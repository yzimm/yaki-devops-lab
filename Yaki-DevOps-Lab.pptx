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full end-to-end DevOps lab built from scratch. It covers the entire software delivery lifecycle — from writing code on a local Windows machine, through automated CI/CD with GitHub Actions, to GitOps deployment on a production Kubernetes cluster using ArgoCD. The goal is to demonstrate real-world DevOps practices in a personal lab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is split into three layers. Local Dev runs on Windows using Docker Desktop and kind clusters for dev and staging. The CI Pipeline is powered by GitHub Actions — every git push triggers an automated build, Docker image push, and kustomization update. GitOps Prod uses ArgoCD on a k3s cluster on an Ubuntu VM — it watches the main branch and automatically deploys changes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was chosen for a specific reason. GitHub is the source of truth for all code and configuration. GitHub Actions provides free CI/CD for public repos. Docker packages the app into a portable container. kind runs real Kubernetes locally without a cloud. k3s is a lightweight Kubernetes distribution perfect for a single Ubuntu VM. ArgoCD implements GitOps — it pulls from Git rather than having a pipeline push to the cluster. Kustomize manages environment-specific config without duplicating manifests. Traefik is built into k3s and handles ingress routing automatically. Prometheus and Grafana provide full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 A developer edits index.html and pushes to the dev branch. Step 2 — GitHub Actions automatically triggers, builds a Docker image, and pushes it to Docker Hub with a unique tag combining the branch name and the commit SHA. Step 3 — Kustomize updates the overlay kustomization.yaml file with the new image tag and commits it back to the repo. Step 4 — The change is promoted through branches: dev to staging for testing, then staging to main for production. Step 5 — ArgoCD detects the change in main, runs kustomize build, and applies the updated manifests to the k3s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branch maps to a specific environment and generates a uniquely tagged Docker image. The dev branch deploys to the local kind-dev-cluster — this is where active development happens. The staging branch deploys to kind-staging-cluster — used for QA and validation before going live. The main branch triggers a production deployment to the k3s cluster on the Ubuntu VM via ArgoCD. Each image tag includes the commit SHA so you always know exactly which code version is running in each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GitOps means Git is the single source of truth for the desired state of your infrastructure. Instead of manually running kubectl commands or having a pipeline push changes to the cluster, ArgoCD continuously pulls from the Git repo and reconciles the live cluster state with what is declared in the manifests. The ArgoCD application is configured to watch the k8s/overlays/prod path on the main branch. With automated sync, prune, and self-heal enabled — any drift from the declared state is automatically corrected within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uses a hybrid environment. The Windows machine acts as the developer workstation — it runs Docker Desktop, two kind clusters (dev and staging), and all the local tooling like kubectl, git, and PowerShell scripts. The Ubuntu VM at 10.93.107.240 is the production server — it runs k3s as a lightweight Kubernetes distribution, ArgoCD for GitOps, and the full Prometheus/Grafana monitoring stack. The two machines communicate over SSH for health checks and over Git/GitHub for the CI/CD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monitoring stack is deployed using the kube-prometheus-stack Helm chart on the k3s cluster. Prometheus scrapes metrics from all pods, nodes, and Kubernetes components every 30 seconds. Grafana provides pre-built dashboards for cluster health, pod resource usage, and network traffic — accessible at port 3000 on the Ubuntu VM. Alertmanager handles alert routing if thresholds are breached. Node Exporter runs as a DaemonSet and exposes OS-level metrics like CPU, memory, and disk utilization from the Ubuntu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health-check.ps1 PowerShell script was built to verify the entire environment before a demo. It runs 10 sections covering all critical components — from local tools and kind clusters, to Docker Hub connectivity, Git branches, SSH access to the Ubuntu VM, ArgoCD sync status, all monitoring pods, Grafana availability, and the required project files. When everything is healthy it prints 37 PASSED with zero failures or warnings. This script saved the demo multiple times by catching issues early — like crashed ArgoCD pods or stale port-forwards.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lab surfaced many real-world lessons. The biggest technical issues were: Kustomize image overrides only work when the name field exactly matches the full image name in the deployment. ArgoCD caches manifests aggressively — deleting the repo-server pod forces a fresh pull. kubectl port-forward load-balances across all pods sharing the same label, which caused old pods to intercept traffic. For reliable browser access, an Ingress resource with Traefik is far more stable than port-forwarding. The next steps are to use Terraform to automate the entire lab setup from scratch, add Helm for more complex app deployments, integrate HashiCorp Vault for secrets, and add automated testing stages to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demonstrates a complete, production-grade DevOps workflow built entirely in a personal environment. Every component — from the CI pipeline to GitOps to monitoring — reflects real-world industry practices. The app is live at http://10.93.107.240, Grafana dashboards are at port 3000, and all source code is on GitHub.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Shape 1"/>
          <p:cNvSpPr/>
          <p:nvPr/>
        </p:nvSpPr>
        <p:spPr>
          <a:xfrm>
            <a:off x="6858000" y="-457200"/>
            <a:ext cx="3200400" cy="3200400"/>
          </a:xfrm>
          <a:prstGeom prst="ellipse">
            <a:avLst/>
          </a:prstGeom>
          <a:solidFill>
            <a:srgbClr val="065A82">
              <a:alpha val="30000"/>
            </a:srgbClr>
          </a:solidFill>
          <a:ln w="12700">
            <a:solidFill>
              <a:srgbClr val="065A82">
                <a:alpha val="30000"/>
              </a:srgbClr>
            </a:solidFill>
            <a:prstDash val="solid"/>
          </a:ln>
        </p:spPr>
      </p:sp>
      <p:sp>
        <p:nvSpPr>
          <p:cNvPr id="4" name="Shape 2"/>
          <p:cNvSpPr/>
          <p:nvPr/>
        </p:nvSpPr>
        <p:spPr>
          <a:xfrm>
            <a:off x="7498080" y="2560320"/>
            <a:ext cx="2011680" cy="2011680"/>
          </a:xfrm>
          <a:prstGeom prst="ellipse">
            <a:avLst/>
          </a:prstGeom>
          <a:solidFill>
            <a:srgbClr val="1C7293">
              <a:alpha val="40000"/>
            </a:srgbClr>
          </a:solidFill>
          <a:ln w="12700">
            <a:solidFill>
              <a:srgbClr val="1C7293">
                <a:alpha val="40000"/>
              </a:srgbClr>
            </a:solidFill>
            <a:prstDash val="solid"/>
          </a:ln>
        </p:spPr>
      </p:sp>
      <p:sp>
        <p:nvSpPr>
          <p:cNvPr id="5" name="Text 3"/>
          <p:cNvSpPr/>
          <p:nvPr/>
        </p:nvSpPr>
        <p:spPr>
          <a:xfrm>
            <a:off x="457200" y="1097280"/>
            <a:ext cx="6858000" cy="109728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Yaki DevOps Lab</a:t>
            </a:r>
            <a:endParaRPr lang="en-US" sz="4800" dirty="0"/>
          </a:p>
        </p:txBody>
      </p:sp>
      <p:sp>
        <p:nvSpPr>
          <p:cNvPr id="6" name="Text 4"/>
          <p:cNvSpPr/>
          <p:nvPr/>
        </p:nvSpPr>
        <p:spPr>
          <a:xfrm>
            <a:off x="457200" y="2286000"/>
            <a:ext cx="6858000" cy="548640"/>
          </a:xfrm>
          <a:prstGeom prst="rect">
            <a:avLst/>
          </a:prstGeom>
          <a:noFill/>
          <a:ln/>
        </p:spPr>
        <p:txBody>
          <a:bodyPr wrap="square" lIns="0" tIns="0" rIns="0" bIns="0" rtlCol="0" anchor="ctr"/>
          <a:lstStyle/>
          <a:p>
            <a:pPr indent="0" marL="0">
              <a:buNone/>
            </a:pPr>
            <a:r>
              <a:rPr lang="en-US" sz="1800" dirty="0">
                <a:solidFill>
                  <a:srgbClr val="00B4D8"/>
                </a:solidFill>
                <a:latin typeface="Calibri" pitchFamily="34" charset="0"/>
                <a:ea typeface="Calibri" pitchFamily="34" charset="-122"/>
                <a:cs typeface="Calibri" pitchFamily="34" charset="-120"/>
              </a:rPr>
              <a:t>End-to-End CI/CD Pipeline — From Code to Production</a:t>
            </a:r>
            <a:endParaRPr lang="en-US" sz="1800" dirty="0"/>
          </a:p>
        </p:txBody>
      </p:sp>
      <p:sp>
        <p:nvSpPr>
          <p:cNvPr id="7" name="Shape 5"/>
          <p:cNvSpPr/>
          <p:nvPr/>
        </p:nvSpPr>
        <p:spPr>
          <a:xfrm>
            <a:off x="457200" y="2971800"/>
            <a:ext cx="4572000" cy="36576"/>
          </a:xfrm>
          <a:prstGeom prst="rect">
            <a:avLst/>
          </a:prstGeom>
          <a:solidFill>
            <a:srgbClr val="8EAFC2"/>
          </a:solidFill>
          <a:ln w="12700">
            <a:solidFill>
              <a:srgbClr val="8EAFC2"/>
            </a:solidFill>
            <a:prstDash val="solid"/>
          </a:ln>
        </p:spPr>
      </p:sp>
      <p:sp>
        <p:nvSpPr>
          <p:cNvPr id="8" name="Shape 6"/>
          <p:cNvSpPr/>
          <p:nvPr/>
        </p:nvSpPr>
        <p:spPr>
          <a:xfrm>
            <a:off x="457200" y="3246120"/>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57200" y="3246120"/>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Docker</a:t>
            </a:r>
            <a:endParaRPr lang="en-US" sz="1100" dirty="0"/>
          </a:p>
        </p:txBody>
      </p:sp>
      <p:sp>
        <p:nvSpPr>
          <p:cNvPr id="10" name="Shape 8"/>
          <p:cNvSpPr/>
          <p:nvPr/>
        </p:nvSpPr>
        <p:spPr>
          <a:xfrm>
            <a:off x="2286000" y="3246120"/>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2286000" y="3246120"/>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Kubernetes</a:t>
            </a:r>
            <a:endParaRPr lang="en-US" sz="1100" dirty="0"/>
          </a:p>
        </p:txBody>
      </p:sp>
      <p:sp>
        <p:nvSpPr>
          <p:cNvPr id="12" name="Shape 10"/>
          <p:cNvSpPr/>
          <p:nvPr/>
        </p:nvSpPr>
        <p:spPr>
          <a:xfrm>
            <a:off x="4114800" y="3246120"/>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4114800" y="3246120"/>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ArgoCD</a:t>
            </a:r>
            <a:endParaRPr lang="en-US" sz="1100" dirty="0"/>
          </a:p>
        </p:txBody>
      </p:sp>
      <p:sp>
        <p:nvSpPr>
          <p:cNvPr id="14" name="Shape 12"/>
          <p:cNvSpPr/>
          <p:nvPr/>
        </p:nvSpPr>
        <p:spPr>
          <a:xfrm>
            <a:off x="457200" y="3721608"/>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457200" y="3721608"/>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GitHub Actions</a:t>
            </a:r>
            <a:endParaRPr lang="en-US" sz="1100" dirty="0"/>
          </a:p>
        </p:txBody>
      </p:sp>
      <p:sp>
        <p:nvSpPr>
          <p:cNvPr id="16" name="Shape 14"/>
          <p:cNvSpPr/>
          <p:nvPr/>
        </p:nvSpPr>
        <p:spPr>
          <a:xfrm>
            <a:off x="2286000" y="3721608"/>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2286000" y="3721608"/>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Kustomize</a:t>
            </a:r>
            <a:endParaRPr lang="en-US" sz="1100" dirty="0"/>
          </a:p>
        </p:txBody>
      </p:sp>
      <p:sp>
        <p:nvSpPr>
          <p:cNvPr id="18" name="Shape 16"/>
          <p:cNvSpPr/>
          <p:nvPr/>
        </p:nvSpPr>
        <p:spPr>
          <a:xfrm>
            <a:off x="4114800" y="3721608"/>
            <a:ext cx="1600200" cy="347472"/>
          </a:xfrm>
          <a:prstGeom prst="rect">
            <a:avLst/>
          </a:prstGeom>
          <a:solidFill>
            <a:srgbClr val="065A82"/>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4114800" y="3721608"/>
            <a:ext cx="160020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Traefik</a:t>
            </a:r>
            <a:endParaRPr lang="en-US" sz="1100" dirty="0"/>
          </a:p>
        </p:txBody>
      </p:sp>
      <p:sp>
        <p:nvSpPr>
          <p:cNvPr id="20" name="Text 18"/>
          <p:cNvSpPr/>
          <p:nvPr/>
        </p:nvSpPr>
        <p:spPr>
          <a:xfrm>
            <a:off x="457200" y="4663440"/>
            <a:ext cx="5486400" cy="320040"/>
          </a:xfrm>
          <a:prstGeom prst="rect">
            <a:avLst/>
          </a:prstGeom>
          <a:noFill/>
          <a:ln/>
        </p:spPr>
        <p:txBody>
          <a:bodyPr wrap="square" lIns="0" tIns="0" rIns="0" bIns="0" rtlCol="0" anchor="ctr"/>
          <a:lstStyle/>
          <a:p>
            <a:pPr indent="0" marL="0">
              <a:buNone/>
            </a:pPr>
            <a:r>
              <a:rPr lang="en-US" sz="1100" dirty="0">
                <a:solidFill>
                  <a:srgbClr val="8EAFC2"/>
                </a:solidFill>
                <a:latin typeface="Calibri" pitchFamily="34" charset="0"/>
                <a:ea typeface="Calibri" pitchFamily="34" charset="-122"/>
                <a:cs typeface="Calibri" pitchFamily="34" charset="-120"/>
              </a:rPr>
              <a:t>github.com/yzimm/yaki-devops-lab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Text 2"/>
          <p:cNvSpPr/>
          <p:nvPr/>
        </p:nvSpPr>
        <p:spPr>
          <a:xfrm>
            <a:off x="365760" y="960120"/>
            <a:ext cx="8229600" cy="411480"/>
          </a:xfrm>
          <a:prstGeom prst="rect">
            <a:avLst/>
          </a:prstGeom>
          <a:noFill/>
          <a:ln/>
        </p:spPr>
        <p:txBody>
          <a:bodyPr wrap="square" lIns="0" tIns="0" rIns="0" bIns="0" rtlCol="0" anchor="ctr"/>
          <a:lstStyle/>
          <a:p>
            <a:pPr indent="0" marL="0">
              <a:buNone/>
            </a:pPr>
            <a:r>
              <a:rPr lang="en-US" sz="1800" b="1" dirty="0">
                <a:solidFill>
                  <a:srgbClr val="0D1B2A"/>
                </a:solidFill>
                <a:latin typeface="Calibri" pitchFamily="34" charset="0"/>
                <a:ea typeface="Calibri" pitchFamily="34" charset="-122"/>
                <a:cs typeface="Calibri" pitchFamily="34" charset="-120"/>
              </a:rPr>
              <a:t>What is Yaki DevOps Lab?</a:t>
            </a:r>
            <a:endParaRPr lang="en-US" sz="1800" dirty="0"/>
          </a:p>
        </p:txBody>
      </p:sp>
      <p:sp>
        <p:nvSpPr>
          <p:cNvPr id="5" name="Text 3"/>
          <p:cNvSpPr/>
          <p:nvPr/>
        </p:nvSpPr>
        <p:spPr>
          <a:xfrm>
            <a:off x="365760" y="1417320"/>
            <a:ext cx="8412480" cy="640080"/>
          </a:xfrm>
          <a:prstGeom prst="rect">
            <a:avLst/>
          </a:prstGeom>
          <a:noFill/>
          <a:ln/>
        </p:spPr>
        <p:txBody>
          <a:bodyPr wrap="square" lIns="0" tIns="0" rIns="0" bIns="0" rtlCol="0" anchor="ctr"/>
          <a:lstStyle/>
          <a:p>
            <a:pPr indent="0" marL="0">
              <a:buNone/>
            </a:pPr>
            <a:r>
              <a:rPr lang="en-US" sz="1300" dirty="0">
                <a:solidFill>
                  <a:srgbClr val="065A82"/>
                </a:solidFill>
                <a:latin typeface="Calibri" pitchFamily="34" charset="0"/>
                <a:ea typeface="Calibri" pitchFamily="34" charset="-122"/>
                <a:cs typeface="Calibri" pitchFamily="34" charset="-120"/>
              </a:rPr>
              <a:t>A complete, production-grade DevOps pipeline built from scratch on a hybrid Windows/Ubuntu environment — demonstrating every stage of the modern software delivery lifecycle.</a:t>
            </a:r>
            <a:endParaRPr lang="en-US" sz="1300" dirty="0"/>
          </a:p>
        </p:txBody>
      </p:sp>
      <p:sp>
        <p:nvSpPr>
          <p:cNvPr id="6" name="Shape 4"/>
          <p:cNvSpPr/>
          <p:nvPr/>
        </p:nvSpPr>
        <p:spPr>
          <a:xfrm>
            <a:off x="274320" y="2240280"/>
            <a:ext cx="2743200" cy="2468880"/>
          </a:xfrm>
          <a:prstGeom prst="rect">
            <a:avLst/>
          </a:prstGeom>
          <a:solidFill>
            <a:srgbClr val="FFFFFF"/>
          </a:solidFill>
          <a:ln w="25400">
            <a:solidFill>
              <a:srgbClr val="065A82"/>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2240280"/>
            <a:ext cx="2743200" cy="457200"/>
          </a:xfrm>
          <a:prstGeom prst="rect">
            <a:avLst/>
          </a:prstGeom>
          <a:solidFill>
            <a:srgbClr val="065A82"/>
          </a:solidFill>
          <a:ln w="12700">
            <a:solidFill>
              <a:srgbClr val="065A82"/>
            </a:solidFill>
            <a:prstDash val="solid"/>
          </a:ln>
        </p:spPr>
      </p:sp>
      <p:sp>
        <p:nvSpPr>
          <p:cNvPr id="8" name="Text 6"/>
          <p:cNvSpPr/>
          <p:nvPr/>
        </p:nvSpPr>
        <p:spPr>
          <a:xfrm>
            <a:off x="274320" y="2240280"/>
            <a:ext cx="2743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Local Dev</a:t>
            </a:r>
            <a:endParaRPr lang="en-US" sz="1400" dirty="0"/>
          </a:p>
        </p:txBody>
      </p:sp>
      <p:sp>
        <p:nvSpPr>
          <p:cNvPr id="9" name="Text 7"/>
          <p:cNvSpPr/>
          <p:nvPr/>
        </p:nvSpPr>
        <p:spPr>
          <a:xfrm>
            <a:off x="411480" y="2788920"/>
            <a:ext cx="2468880" cy="1828800"/>
          </a:xfrm>
          <a:prstGeom prst="rect">
            <a:avLst/>
          </a:prstGeom>
          <a:noFill/>
          <a:ln/>
        </p:spPr>
        <p:txBody>
          <a:bodyPr wrap="square" lIns="0" tIns="0" rIns="0" bIns="0" rtlCol="0" anchor="t"/>
          <a:lstStyle/>
          <a:p>
            <a:pPr indent="0" marL="0">
              <a:buNone/>
            </a:pPr>
            <a:r>
              <a:rPr lang="en-US" sz="1150" dirty="0">
                <a:solidFill>
                  <a:srgbClr val="0D1B2A"/>
                </a:solidFill>
                <a:latin typeface="Calibri" pitchFamily="34" charset="0"/>
                <a:ea typeface="Calibri" pitchFamily="34" charset="-122"/>
                <a:cs typeface="Calibri" pitchFamily="34" charset="-120"/>
              </a:rPr>
              <a:t>Windows machine with Docker Desktop, kind clusters for dev &amp; staging, VS Code, PowerShell scripts</a:t>
            </a:r>
            <a:endParaRPr lang="en-US" sz="1150" dirty="0"/>
          </a:p>
        </p:txBody>
      </p:sp>
      <p:sp>
        <p:nvSpPr>
          <p:cNvPr id="10" name="Shape 8"/>
          <p:cNvSpPr/>
          <p:nvPr/>
        </p:nvSpPr>
        <p:spPr>
          <a:xfrm>
            <a:off x="3200400" y="2240280"/>
            <a:ext cx="2743200" cy="2468880"/>
          </a:xfrm>
          <a:prstGeom prst="rect">
            <a:avLst/>
          </a:prstGeom>
          <a:solidFill>
            <a:srgbClr val="FFFFFF"/>
          </a:solidFill>
          <a:ln w="25400">
            <a:solidFill>
              <a:srgbClr val="1C7293"/>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200400" y="2240280"/>
            <a:ext cx="2743200" cy="457200"/>
          </a:xfrm>
          <a:prstGeom prst="rect">
            <a:avLst/>
          </a:prstGeom>
          <a:solidFill>
            <a:srgbClr val="1C7293"/>
          </a:solidFill>
          <a:ln w="12700">
            <a:solidFill>
              <a:srgbClr val="1C7293"/>
            </a:solidFill>
            <a:prstDash val="solid"/>
          </a:ln>
        </p:spPr>
      </p:sp>
      <p:sp>
        <p:nvSpPr>
          <p:cNvPr id="12" name="Text 10"/>
          <p:cNvSpPr/>
          <p:nvPr/>
        </p:nvSpPr>
        <p:spPr>
          <a:xfrm>
            <a:off x="3200400" y="2240280"/>
            <a:ext cx="2743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CI Pipeline</a:t>
            </a:r>
            <a:endParaRPr lang="en-US" sz="1400" dirty="0"/>
          </a:p>
        </p:txBody>
      </p:sp>
      <p:sp>
        <p:nvSpPr>
          <p:cNvPr id="13" name="Text 11"/>
          <p:cNvSpPr/>
          <p:nvPr/>
        </p:nvSpPr>
        <p:spPr>
          <a:xfrm>
            <a:off x="3337560" y="2788920"/>
            <a:ext cx="2468880" cy="1828800"/>
          </a:xfrm>
          <a:prstGeom prst="rect">
            <a:avLst/>
          </a:prstGeom>
          <a:noFill/>
          <a:ln/>
        </p:spPr>
        <p:txBody>
          <a:bodyPr wrap="square" lIns="0" tIns="0" rIns="0" bIns="0" rtlCol="0" anchor="t"/>
          <a:lstStyle/>
          <a:p>
            <a:pPr indent="0" marL="0">
              <a:buNone/>
            </a:pPr>
            <a:r>
              <a:rPr lang="en-US" sz="1150" dirty="0">
                <a:solidFill>
                  <a:srgbClr val="0D1B2A"/>
                </a:solidFill>
                <a:latin typeface="Calibri" pitchFamily="34" charset="0"/>
                <a:ea typeface="Calibri" pitchFamily="34" charset="-122"/>
                <a:cs typeface="Calibri" pitchFamily="34" charset="-120"/>
              </a:rPr>
              <a:t>GitHub Actions builds Docker images on every push, tags by branch+SHA, updates Kustomize overlays automatically</a:t>
            </a:r>
            <a:endParaRPr lang="en-US" sz="1150" dirty="0"/>
          </a:p>
        </p:txBody>
      </p:sp>
      <p:sp>
        <p:nvSpPr>
          <p:cNvPr id="14" name="Shape 12"/>
          <p:cNvSpPr/>
          <p:nvPr/>
        </p:nvSpPr>
        <p:spPr>
          <a:xfrm>
            <a:off x="6126480" y="2240280"/>
            <a:ext cx="2743200" cy="2468880"/>
          </a:xfrm>
          <a:prstGeom prst="rect">
            <a:avLst/>
          </a:prstGeom>
          <a:solidFill>
            <a:srgbClr val="FFFFFF"/>
          </a:solidFill>
          <a:ln w="25400">
            <a:solidFill>
              <a:srgbClr val="00B4D8"/>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6126480" y="2240280"/>
            <a:ext cx="2743200" cy="457200"/>
          </a:xfrm>
          <a:prstGeom prst="rect">
            <a:avLst/>
          </a:prstGeom>
          <a:solidFill>
            <a:srgbClr val="00B4D8"/>
          </a:solidFill>
          <a:ln w="12700">
            <a:solidFill>
              <a:srgbClr val="00B4D8"/>
            </a:solidFill>
            <a:prstDash val="solid"/>
          </a:ln>
        </p:spPr>
      </p:sp>
      <p:sp>
        <p:nvSpPr>
          <p:cNvPr id="16" name="Text 14"/>
          <p:cNvSpPr/>
          <p:nvPr/>
        </p:nvSpPr>
        <p:spPr>
          <a:xfrm>
            <a:off x="6126480" y="2240280"/>
            <a:ext cx="2743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GitOps Prod</a:t>
            </a:r>
            <a:endParaRPr lang="en-US" sz="1400" dirty="0"/>
          </a:p>
        </p:txBody>
      </p:sp>
      <p:sp>
        <p:nvSpPr>
          <p:cNvPr id="17" name="Text 15"/>
          <p:cNvSpPr/>
          <p:nvPr/>
        </p:nvSpPr>
        <p:spPr>
          <a:xfrm>
            <a:off x="6263640" y="2788920"/>
            <a:ext cx="2468880" cy="1828800"/>
          </a:xfrm>
          <a:prstGeom prst="rect">
            <a:avLst/>
          </a:prstGeom>
          <a:noFill/>
          <a:ln/>
        </p:spPr>
        <p:txBody>
          <a:bodyPr wrap="square" lIns="0" tIns="0" rIns="0" bIns="0" rtlCol="0" anchor="t"/>
          <a:lstStyle/>
          <a:p>
            <a:pPr indent="0" marL="0">
              <a:buNone/>
            </a:pPr>
            <a:r>
              <a:rPr lang="en-US" sz="1150" dirty="0">
                <a:solidFill>
                  <a:srgbClr val="0D1B2A"/>
                </a:solidFill>
                <a:latin typeface="Calibri" pitchFamily="34" charset="0"/>
                <a:ea typeface="Calibri" pitchFamily="34" charset="-122"/>
                <a:cs typeface="Calibri" pitchFamily="34" charset="-120"/>
              </a:rPr>
              <a:t>ArgoCD on k3s (Ubuntu VM) watches the main branch and auto-deploys to production with Traefik ingress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 Stack</a:t>
            </a:r>
            <a:endParaRPr lang="en-US" sz="2600" dirty="0"/>
          </a:p>
        </p:txBody>
      </p:sp>
      <p:sp>
        <p:nvSpPr>
          <p:cNvPr id="4" name="Shape 2"/>
          <p:cNvSpPr/>
          <p:nvPr/>
        </p:nvSpPr>
        <p:spPr>
          <a:xfrm>
            <a:off x="274320" y="1005840"/>
            <a:ext cx="2743200" cy="1143000"/>
          </a:xfrm>
          <a:prstGeom prst="rect">
            <a:avLst/>
          </a:prstGeom>
          <a:solidFill>
            <a:srgbClr val="162435"/>
          </a:solidFill>
          <a:ln w="19050">
            <a:solidFill>
              <a:srgbClr val="00B4D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1005840"/>
            <a:ext cx="109728" cy="1143000"/>
          </a:xfrm>
          <a:prstGeom prst="rect">
            <a:avLst/>
          </a:prstGeom>
          <a:solidFill>
            <a:srgbClr val="00B4D8"/>
          </a:solidFill>
          <a:ln w="12700">
            <a:solidFill>
              <a:srgbClr val="00B4D8"/>
            </a:solidFill>
            <a:prstDash val="solid"/>
          </a:ln>
        </p:spPr>
      </p:sp>
      <p:sp>
        <p:nvSpPr>
          <p:cNvPr id="6" name="Text 4"/>
          <p:cNvSpPr/>
          <p:nvPr/>
        </p:nvSpPr>
        <p:spPr>
          <a:xfrm>
            <a:off x="457200" y="1097280"/>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Source Control</a:t>
            </a:r>
            <a:endParaRPr lang="en-US" sz="1000" dirty="0"/>
          </a:p>
        </p:txBody>
      </p:sp>
      <p:sp>
        <p:nvSpPr>
          <p:cNvPr id="7" name="Text 5"/>
          <p:cNvSpPr/>
          <p:nvPr/>
        </p:nvSpPr>
        <p:spPr>
          <a:xfrm>
            <a:off x="457200" y="1389888"/>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GitHub</a:t>
            </a:r>
            <a:endParaRPr lang="en-US" sz="1400" dirty="0"/>
          </a:p>
        </p:txBody>
      </p:sp>
      <p:sp>
        <p:nvSpPr>
          <p:cNvPr id="8" name="Shape 6"/>
          <p:cNvSpPr/>
          <p:nvPr/>
        </p:nvSpPr>
        <p:spPr>
          <a:xfrm>
            <a:off x="3246120" y="1005840"/>
            <a:ext cx="2743200" cy="1143000"/>
          </a:xfrm>
          <a:prstGeom prst="rect">
            <a:avLst/>
          </a:prstGeom>
          <a:solidFill>
            <a:srgbClr val="162435"/>
          </a:solidFill>
          <a:ln w="19050">
            <a:solidFill>
              <a:srgbClr val="00C48C"/>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46120" y="1005840"/>
            <a:ext cx="109728" cy="1143000"/>
          </a:xfrm>
          <a:prstGeom prst="rect">
            <a:avLst/>
          </a:prstGeom>
          <a:solidFill>
            <a:srgbClr val="00C48C"/>
          </a:solidFill>
          <a:ln w="12700">
            <a:solidFill>
              <a:srgbClr val="00C48C"/>
            </a:solidFill>
            <a:prstDash val="solid"/>
          </a:ln>
        </p:spPr>
      </p:sp>
      <p:sp>
        <p:nvSpPr>
          <p:cNvPr id="10" name="Text 8"/>
          <p:cNvSpPr/>
          <p:nvPr/>
        </p:nvSpPr>
        <p:spPr>
          <a:xfrm>
            <a:off x="3429000" y="1097280"/>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CI/CD</a:t>
            </a:r>
            <a:endParaRPr lang="en-US" sz="1000" dirty="0"/>
          </a:p>
        </p:txBody>
      </p:sp>
      <p:sp>
        <p:nvSpPr>
          <p:cNvPr id="11" name="Text 9"/>
          <p:cNvSpPr/>
          <p:nvPr/>
        </p:nvSpPr>
        <p:spPr>
          <a:xfrm>
            <a:off x="3429000" y="1389888"/>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GitHub Actions</a:t>
            </a:r>
            <a:endParaRPr lang="en-US" sz="1400" dirty="0"/>
          </a:p>
        </p:txBody>
      </p:sp>
      <p:sp>
        <p:nvSpPr>
          <p:cNvPr id="12" name="Shape 10"/>
          <p:cNvSpPr/>
          <p:nvPr/>
        </p:nvSpPr>
        <p:spPr>
          <a:xfrm>
            <a:off x="6217920" y="1005840"/>
            <a:ext cx="2743200" cy="1143000"/>
          </a:xfrm>
          <a:prstGeom prst="rect">
            <a:avLst/>
          </a:prstGeom>
          <a:solidFill>
            <a:srgbClr val="162435"/>
          </a:solidFill>
          <a:ln w="19050">
            <a:solidFill>
              <a:srgbClr val="00B4D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6217920" y="1005840"/>
            <a:ext cx="109728" cy="1143000"/>
          </a:xfrm>
          <a:prstGeom prst="rect">
            <a:avLst/>
          </a:prstGeom>
          <a:solidFill>
            <a:srgbClr val="00B4D8"/>
          </a:solidFill>
          <a:ln w="12700">
            <a:solidFill>
              <a:srgbClr val="00B4D8"/>
            </a:solidFill>
            <a:prstDash val="solid"/>
          </a:ln>
        </p:spPr>
      </p:sp>
      <p:sp>
        <p:nvSpPr>
          <p:cNvPr id="14" name="Text 12"/>
          <p:cNvSpPr/>
          <p:nvPr/>
        </p:nvSpPr>
        <p:spPr>
          <a:xfrm>
            <a:off x="6400800" y="1097280"/>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Containerization</a:t>
            </a:r>
            <a:endParaRPr lang="en-US" sz="1000" dirty="0"/>
          </a:p>
        </p:txBody>
      </p:sp>
      <p:sp>
        <p:nvSpPr>
          <p:cNvPr id="15" name="Text 13"/>
          <p:cNvSpPr/>
          <p:nvPr/>
        </p:nvSpPr>
        <p:spPr>
          <a:xfrm>
            <a:off x="6400800" y="1389888"/>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Docker + Docker Hub</a:t>
            </a:r>
            <a:endParaRPr lang="en-US" sz="1400" dirty="0"/>
          </a:p>
        </p:txBody>
      </p:sp>
      <p:sp>
        <p:nvSpPr>
          <p:cNvPr id="16" name="Shape 14"/>
          <p:cNvSpPr/>
          <p:nvPr/>
        </p:nvSpPr>
        <p:spPr>
          <a:xfrm>
            <a:off x="274320" y="2304288"/>
            <a:ext cx="2743200" cy="1143000"/>
          </a:xfrm>
          <a:prstGeom prst="rect">
            <a:avLst/>
          </a:prstGeom>
          <a:solidFill>
            <a:srgbClr val="162435"/>
          </a:solidFill>
          <a:ln w="19050">
            <a:solidFill>
              <a:srgbClr val="FFD166"/>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274320" y="2304288"/>
            <a:ext cx="109728" cy="1143000"/>
          </a:xfrm>
          <a:prstGeom prst="rect">
            <a:avLst/>
          </a:prstGeom>
          <a:solidFill>
            <a:srgbClr val="FFD166"/>
          </a:solidFill>
          <a:ln w="12700">
            <a:solidFill>
              <a:srgbClr val="FFD166"/>
            </a:solidFill>
            <a:prstDash val="solid"/>
          </a:ln>
        </p:spPr>
      </p:sp>
      <p:sp>
        <p:nvSpPr>
          <p:cNvPr id="18" name="Text 16"/>
          <p:cNvSpPr/>
          <p:nvPr/>
        </p:nvSpPr>
        <p:spPr>
          <a:xfrm>
            <a:off x="457200" y="2395728"/>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Local K8s</a:t>
            </a:r>
            <a:endParaRPr lang="en-US" sz="1000" dirty="0"/>
          </a:p>
        </p:txBody>
      </p:sp>
      <p:sp>
        <p:nvSpPr>
          <p:cNvPr id="19" name="Text 17"/>
          <p:cNvSpPr/>
          <p:nvPr/>
        </p:nvSpPr>
        <p:spPr>
          <a:xfrm>
            <a:off x="457200" y="2688336"/>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kind (dev + staging)</a:t>
            </a:r>
            <a:endParaRPr lang="en-US" sz="1400" dirty="0"/>
          </a:p>
        </p:txBody>
      </p:sp>
      <p:sp>
        <p:nvSpPr>
          <p:cNvPr id="20" name="Shape 18"/>
          <p:cNvSpPr/>
          <p:nvPr/>
        </p:nvSpPr>
        <p:spPr>
          <a:xfrm>
            <a:off x="3246120" y="2304288"/>
            <a:ext cx="2743200" cy="1143000"/>
          </a:xfrm>
          <a:prstGeom prst="rect">
            <a:avLst/>
          </a:prstGeom>
          <a:solidFill>
            <a:srgbClr val="162435"/>
          </a:solidFill>
          <a:ln w="19050">
            <a:solidFill>
              <a:srgbClr val="00C48C"/>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246120" y="2304288"/>
            <a:ext cx="109728" cy="1143000"/>
          </a:xfrm>
          <a:prstGeom prst="rect">
            <a:avLst/>
          </a:prstGeom>
          <a:solidFill>
            <a:srgbClr val="00C48C"/>
          </a:solidFill>
          <a:ln w="12700">
            <a:solidFill>
              <a:srgbClr val="00C48C"/>
            </a:solidFill>
            <a:prstDash val="solid"/>
          </a:ln>
        </p:spPr>
      </p:sp>
      <p:sp>
        <p:nvSpPr>
          <p:cNvPr id="22" name="Text 20"/>
          <p:cNvSpPr/>
          <p:nvPr/>
        </p:nvSpPr>
        <p:spPr>
          <a:xfrm>
            <a:off x="3429000" y="2395728"/>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Production K8s</a:t>
            </a:r>
            <a:endParaRPr lang="en-US" sz="1000" dirty="0"/>
          </a:p>
        </p:txBody>
      </p:sp>
      <p:sp>
        <p:nvSpPr>
          <p:cNvPr id="23" name="Text 21"/>
          <p:cNvSpPr/>
          <p:nvPr/>
        </p:nvSpPr>
        <p:spPr>
          <a:xfrm>
            <a:off x="3429000" y="2688336"/>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k3s on Ubuntu VM</a:t>
            </a:r>
            <a:endParaRPr lang="en-US" sz="1400" dirty="0"/>
          </a:p>
        </p:txBody>
      </p:sp>
      <p:sp>
        <p:nvSpPr>
          <p:cNvPr id="24" name="Shape 22"/>
          <p:cNvSpPr/>
          <p:nvPr/>
        </p:nvSpPr>
        <p:spPr>
          <a:xfrm>
            <a:off x="6217920" y="2304288"/>
            <a:ext cx="2743200" cy="1143000"/>
          </a:xfrm>
          <a:prstGeom prst="rect">
            <a:avLst/>
          </a:prstGeom>
          <a:solidFill>
            <a:srgbClr val="162435"/>
          </a:solidFill>
          <a:ln w="19050">
            <a:solidFill>
              <a:srgbClr val="00B4D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6217920" y="2304288"/>
            <a:ext cx="109728" cy="1143000"/>
          </a:xfrm>
          <a:prstGeom prst="rect">
            <a:avLst/>
          </a:prstGeom>
          <a:solidFill>
            <a:srgbClr val="00B4D8"/>
          </a:solidFill>
          <a:ln w="12700">
            <a:solidFill>
              <a:srgbClr val="00B4D8"/>
            </a:solidFill>
            <a:prstDash val="solid"/>
          </a:ln>
        </p:spPr>
      </p:sp>
      <p:sp>
        <p:nvSpPr>
          <p:cNvPr id="26" name="Text 24"/>
          <p:cNvSpPr/>
          <p:nvPr/>
        </p:nvSpPr>
        <p:spPr>
          <a:xfrm>
            <a:off x="6400800" y="2395728"/>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GitOps</a:t>
            </a:r>
            <a:endParaRPr lang="en-US" sz="1000" dirty="0"/>
          </a:p>
        </p:txBody>
      </p:sp>
      <p:sp>
        <p:nvSpPr>
          <p:cNvPr id="27" name="Text 25"/>
          <p:cNvSpPr/>
          <p:nvPr/>
        </p:nvSpPr>
        <p:spPr>
          <a:xfrm>
            <a:off x="6400800" y="2688336"/>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ArgoCD</a:t>
            </a:r>
            <a:endParaRPr lang="en-US" sz="1400" dirty="0"/>
          </a:p>
        </p:txBody>
      </p:sp>
      <p:sp>
        <p:nvSpPr>
          <p:cNvPr id="28" name="Shape 26"/>
          <p:cNvSpPr/>
          <p:nvPr/>
        </p:nvSpPr>
        <p:spPr>
          <a:xfrm>
            <a:off x="274320" y="3602736"/>
            <a:ext cx="2743200" cy="1143000"/>
          </a:xfrm>
          <a:prstGeom prst="rect">
            <a:avLst/>
          </a:prstGeom>
          <a:solidFill>
            <a:srgbClr val="162435"/>
          </a:solidFill>
          <a:ln w="19050">
            <a:solidFill>
              <a:srgbClr val="FFD166"/>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3602736"/>
            <a:ext cx="109728" cy="1143000"/>
          </a:xfrm>
          <a:prstGeom prst="rect">
            <a:avLst/>
          </a:prstGeom>
          <a:solidFill>
            <a:srgbClr val="FFD166"/>
          </a:solidFill>
          <a:ln w="12700">
            <a:solidFill>
              <a:srgbClr val="FFD166"/>
            </a:solidFill>
            <a:prstDash val="solid"/>
          </a:ln>
        </p:spPr>
      </p:sp>
      <p:sp>
        <p:nvSpPr>
          <p:cNvPr id="30" name="Text 28"/>
          <p:cNvSpPr/>
          <p:nvPr/>
        </p:nvSpPr>
        <p:spPr>
          <a:xfrm>
            <a:off x="457200" y="3694176"/>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Config Management</a:t>
            </a:r>
            <a:endParaRPr lang="en-US" sz="1000" dirty="0"/>
          </a:p>
        </p:txBody>
      </p:sp>
      <p:sp>
        <p:nvSpPr>
          <p:cNvPr id="31" name="Text 29"/>
          <p:cNvSpPr/>
          <p:nvPr/>
        </p:nvSpPr>
        <p:spPr>
          <a:xfrm>
            <a:off x="457200" y="3986784"/>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Kustomize</a:t>
            </a:r>
            <a:endParaRPr lang="en-US" sz="1400" dirty="0"/>
          </a:p>
        </p:txBody>
      </p:sp>
      <p:sp>
        <p:nvSpPr>
          <p:cNvPr id="32" name="Shape 30"/>
          <p:cNvSpPr/>
          <p:nvPr/>
        </p:nvSpPr>
        <p:spPr>
          <a:xfrm>
            <a:off x="3246120" y="3602736"/>
            <a:ext cx="2743200" cy="1143000"/>
          </a:xfrm>
          <a:prstGeom prst="rect">
            <a:avLst/>
          </a:prstGeom>
          <a:solidFill>
            <a:srgbClr val="162435"/>
          </a:solidFill>
          <a:ln w="19050">
            <a:solidFill>
              <a:srgbClr val="00C48C"/>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3246120" y="3602736"/>
            <a:ext cx="109728" cy="1143000"/>
          </a:xfrm>
          <a:prstGeom prst="rect">
            <a:avLst/>
          </a:prstGeom>
          <a:solidFill>
            <a:srgbClr val="00C48C"/>
          </a:solidFill>
          <a:ln w="12700">
            <a:solidFill>
              <a:srgbClr val="00C48C"/>
            </a:solidFill>
            <a:prstDash val="solid"/>
          </a:ln>
        </p:spPr>
      </p:sp>
      <p:sp>
        <p:nvSpPr>
          <p:cNvPr id="34" name="Text 32"/>
          <p:cNvSpPr/>
          <p:nvPr/>
        </p:nvSpPr>
        <p:spPr>
          <a:xfrm>
            <a:off x="3429000" y="3694176"/>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Ingress</a:t>
            </a:r>
            <a:endParaRPr lang="en-US" sz="1000" dirty="0"/>
          </a:p>
        </p:txBody>
      </p:sp>
      <p:sp>
        <p:nvSpPr>
          <p:cNvPr id="35" name="Text 33"/>
          <p:cNvSpPr/>
          <p:nvPr/>
        </p:nvSpPr>
        <p:spPr>
          <a:xfrm>
            <a:off x="3429000" y="3986784"/>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Traefik</a:t>
            </a:r>
            <a:endParaRPr lang="en-US" sz="1400" dirty="0"/>
          </a:p>
        </p:txBody>
      </p:sp>
      <p:sp>
        <p:nvSpPr>
          <p:cNvPr id="36" name="Shape 34"/>
          <p:cNvSpPr/>
          <p:nvPr/>
        </p:nvSpPr>
        <p:spPr>
          <a:xfrm>
            <a:off x="6217920" y="3602736"/>
            <a:ext cx="2743200" cy="1143000"/>
          </a:xfrm>
          <a:prstGeom prst="rect">
            <a:avLst/>
          </a:prstGeom>
          <a:solidFill>
            <a:srgbClr val="162435"/>
          </a:solidFill>
          <a:ln w="19050">
            <a:solidFill>
              <a:srgbClr val="EF476F"/>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6217920" y="3602736"/>
            <a:ext cx="109728" cy="1143000"/>
          </a:xfrm>
          <a:prstGeom prst="rect">
            <a:avLst/>
          </a:prstGeom>
          <a:solidFill>
            <a:srgbClr val="EF476F"/>
          </a:solidFill>
          <a:ln w="12700">
            <a:solidFill>
              <a:srgbClr val="EF476F"/>
            </a:solidFill>
            <a:prstDash val="solid"/>
          </a:ln>
        </p:spPr>
      </p:sp>
      <p:sp>
        <p:nvSpPr>
          <p:cNvPr id="38" name="Text 36"/>
          <p:cNvSpPr/>
          <p:nvPr/>
        </p:nvSpPr>
        <p:spPr>
          <a:xfrm>
            <a:off x="6400800" y="3694176"/>
            <a:ext cx="2468880" cy="320040"/>
          </a:xfrm>
          <a:prstGeom prst="rect">
            <a:avLst/>
          </a:prstGeom>
          <a:noFill/>
          <a:ln/>
        </p:spPr>
        <p:txBody>
          <a:bodyPr wrap="square" lIns="0" tIns="0" rIns="0" bIns="0" rtlCol="0" anchor="ctr"/>
          <a:lstStyle/>
          <a:p>
            <a:pPr indent="0" marL="0">
              <a:buNone/>
            </a:pPr>
            <a:r>
              <a:rPr lang="en-US" sz="1000" dirty="0">
                <a:solidFill>
                  <a:srgbClr val="8EAFC2"/>
                </a:solidFill>
                <a:latin typeface="Calibri" pitchFamily="34" charset="0"/>
                <a:ea typeface="Calibri" pitchFamily="34" charset="-122"/>
                <a:cs typeface="Calibri" pitchFamily="34" charset="-120"/>
              </a:rPr>
              <a:t>Monitoring</a:t>
            </a:r>
            <a:endParaRPr lang="en-US" sz="1000" dirty="0"/>
          </a:p>
        </p:txBody>
      </p:sp>
      <p:sp>
        <p:nvSpPr>
          <p:cNvPr id="39" name="Text 37"/>
          <p:cNvSpPr/>
          <p:nvPr/>
        </p:nvSpPr>
        <p:spPr>
          <a:xfrm>
            <a:off x="6400800" y="3986784"/>
            <a:ext cx="2468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Prometheus + Grafana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CI/CD Pipeline Flow</a:t>
            </a:r>
            <a:endParaRPr lang="en-US" sz="2600" dirty="0"/>
          </a:p>
        </p:txBody>
      </p:sp>
      <p:sp>
        <p:nvSpPr>
          <p:cNvPr id="4" name="Shape 2"/>
          <p:cNvSpPr/>
          <p:nvPr/>
        </p:nvSpPr>
        <p:spPr>
          <a:xfrm>
            <a:off x="274320" y="960120"/>
            <a:ext cx="1508760" cy="3474720"/>
          </a:xfrm>
          <a:prstGeom prst="rect">
            <a:avLst/>
          </a:prstGeom>
          <a:solidFill>
            <a:srgbClr val="FFFFFF"/>
          </a:solidFill>
          <a:ln w="25400">
            <a:solidFill>
              <a:srgbClr val="065A82"/>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708660" y="1051560"/>
            <a:ext cx="640080" cy="640080"/>
          </a:xfrm>
          <a:prstGeom prst="ellipse">
            <a:avLst/>
          </a:prstGeom>
          <a:solidFill>
            <a:srgbClr val="065A82"/>
          </a:solidFill>
          <a:ln w="12700">
            <a:solidFill>
              <a:srgbClr val="065A82"/>
            </a:solidFill>
            <a:prstDash val="solid"/>
          </a:ln>
        </p:spPr>
      </p:sp>
      <p:sp>
        <p:nvSpPr>
          <p:cNvPr id="6" name="Text 4"/>
          <p:cNvSpPr/>
          <p:nvPr/>
        </p:nvSpPr>
        <p:spPr>
          <a:xfrm>
            <a:off x="708660" y="1051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347472" y="1828800"/>
            <a:ext cx="13716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Code Change</a:t>
            </a:r>
            <a:endParaRPr lang="en-US" sz="1200" dirty="0"/>
          </a:p>
        </p:txBody>
      </p:sp>
      <p:sp>
        <p:nvSpPr>
          <p:cNvPr id="8" name="Text 6"/>
          <p:cNvSpPr/>
          <p:nvPr/>
        </p:nvSpPr>
        <p:spPr>
          <a:xfrm>
            <a:off x="347472" y="2331720"/>
            <a:ext cx="1371600" cy="1645920"/>
          </a:xfrm>
          <a:prstGeom prst="rect">
            <a:avLst/>
          </a:prstGeom>
          <a:noFill/>
          <a:ln/>
        </p:spPr>
        <p:txBody>
          <a:bodyPr wrap="square" lIns="0" tIns="0" rIns="0" bIns="0" rtlCol="0" anchor="ctr"/>
          <a:lstStyle/>
          <a:p>
            <a:pPr algn="ctr" indent="0" marL="0">
              <a:buNone/>
            </a:pPr>
            <a:r>
              <a:rPr lang="en-US" sz="1000" dirty="0">
                <a:solidFill>
                  <a:srgbClr val="065A82"/>
                </a:solidFill>
                <a:latin typeface="Calibri" pitchFamily="34" charset="0"/>
                <a:ea typeface="Calibri" pitchFamily="34" charset="-122"/>
                <a:cs typeface="Calibri" pitchFamily="34" charset="-120"/>
              </a:rPr>
              <a:t>Edit index.html</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Commit &amp; push</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to dev branch</a:t>
            </a:r>
            <a:endParaRPr lang="en-US" sz="1000" dirty="0"/>
          </a:p>
        </p:txBody>
      </p:sp>
      <p:sp>
        <p:nvSpPr>
          <p:cNvPr id="9" name="Shape 7"/>
          <p:cNvSpPr/>
          <p:nvPr/>
        </p:nvSpPr>
        <p:spPr>
          <a:xfrm>
            <a:off x="1828800" y="2606040"/>
            <a:ext cx="155448" cy="54864"/>
          </a:xfrm>
          <a:prstGeom prst="rect">
            <a:avLst/>
          </a:prstGeom>
          <a:solidFill>
            <a:srgbClr val="8EAFC2"/>
          </a:solidFill>
          <a:ln w="12700">
            <a:solidFill>
              <a:srgbClr val="8EAFC2"/>
            </a:solidFill>
            <a:prstDash val="solid"/>
          </a:ln>
        </p:spPr>
      </p:sp>
      <p:sp>
        <p:nvSpPr>
          <p:cNvPr id="10" name="Shape 8"/>
          <p:cNvSpPr/>
          <p:nvPr/>
        </p:nvSpPr>
        <p:spPr>
          <a:xfrm>
            <a:off x="2011680" y="960120"/>
            <a:ext cx="1508760" cy="3474720"/>
          </a:xfrm>
          <a:prstGeom prst="rect">
            <a:avLst/>
          </a:prstGeom>
          <a:solidFill>
            <a:srgbClr val="FFFFFF"/>
          </a:solidFill>
          <a:ln w="25400">
            <a:solidFill>
              <a:srgbClr val="1C7293"/>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446020" y="1051560"/>
            <a:ext cx="640080" cy="640080"/>
          </a:xfrm>
          <a:prstGeom prst="ellipse">
            <a:avLst/>
          </a:prstGeom>
          <a:solidFill>
            <a:srgbClr val="1C7293"/>
          </a:solidFill>
          <a:ln w="12700">
            <a:solidFill>
              <a:srgbClr val="1C7293"/>
            </a:solidFill>
            <a:prstDash val="solid"/>
          </a:ln>
        </p:spPr>
      </p:sp>
      <p:sp>
        <p:nvSpPr>
          <p:cNvPr id="12" name="Text 10"/>
          <p:cNvSpPr/>
          <p:nvPr/>
        </p:nvSpPr>
        <p:spPr>
          <a:xfrm>
            <a:off x="2446020" y="1051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2084832" y="1828800"/>
            <a:ext cx="13716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GitHub Actions</a:t>
            </a:r>
            <a:endParaRPr lang="en-US" sz="1200" dirty="0"/>
          </a:p>
        </p:txBody>
      </p:sp>
      <p:sp>
        <p:nvSpPr>
          <p:cNvPr id="14" name="Text 12"/>
          <p:cNvSpPr/>
          <p:nvPr/>
        </p:nvSpPr>
        <p:spPr>
          <a:xfrm>
            <a:off x="2084832" y="2331720"/>
            <a:ext cx="1371600" cy="1645920"/>
          </a:xfrm>
          <a:prstGeom prst="rect">
            <a:avLst/>
          </a:prstGeom>
          <a:noFill/>
          <a:ln/>
        </p:spPr>
        <p:txBody>
          <a:bodyPr wrap="square" lIns="0" tIns="0" rIns="0" bIns="0" rtlCol="0" anchor="ctr"/>
          <a:lstStyle/>
          <a:p>
            <a:pPr algn="ctr" indent="0" marL="0">
              <a:buNone/>
            </a:pPr>
            <a:r>
              <a:rPr lang="en-US" sz="1000" dirty="0">
                <a:solidFill>
                  <a:srgbClr val="065A82"/>
                </a:solidFill>
                <a:latin typeface="Calibri" pitchFamily="34" charset="0"/>
                <a:ea typeface="Calibri" pitchFamily="34" charset="-122"/>
                <a:cs typeface="Calibri" pitchFamily="34" charset="-120"/>
              </a:rPr>
              <a:t>Build Docker image</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Tag: dev-{SHA}</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Push to Docker Hub</a:t>
            </a:r>
            <a:endParaRPr lang="en-US" sz="1000" dirty="0"/>
          </a:p>
        </p:txBody>
      </p:sp>
      <p:sp>
        <p:nvSpPr>
          <p:cNvPr id="15" name="Shape 13"/>
          <p:cNvSpPr/>
          <p:nvPr/>
        </p:nvSpPr>
        <p:spPr>
          <a:xfrm>
            <a:off x="3566160" y="2606040"/>
            <a:ext cx="155448" cy="54864"/>
          </a:xfrm>
          <a:prstGeom prst="rect">
            <a:avLst/>
          </a:prstGeom>
          <a:solidFill>
            <a:srgbClr val="8EAFC2"/>
          </a:solidFill>
          <a:ln w="12700">
            <a:solidFill>
              <a:srgbClr val="8EAFC2"/>
            </a:solidFill>
            <a:prstDash val="solid"/>
          </a:ln>
        </p:spPr>
      </p:sp>
      <p:sp>
        <p:nvSpPr>
          <p:cNvPr id="16" name="Shape 14"/>
          <p:cNvSpPr/>
          <p:nvPr/>
        </p:nvSpPr>
        <p:spPr>
          <a:xfrm>
            <a:off x="3749040" y="960120"/>
            <a:ext cx="1508760" cy="3474720"/>
          </a:xfrm>
          <a:prstGeom prst="rect">
            <a:avLst/>
          </a:prstGeom>
          <a:solidFill>
            <a:srgbClr val="FFFFFF"/>
          </a:solidFill>
          <a:ln w="25400">
            <a:solidFill>
              <a:srgbClr val="00B4D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183380" y="1051560"/>
            <a:ext cx="640080" cy="640080"/>
          </a:xfrm>
          <a:prstGeom prst="ellipse">
            <a:avLst/>
          </a:prstGeom>
          <a:solidFill>
            <a:srgbClr val="00B4D8"/>
          </a:solidFill>
          <a:ln w="12700">
            <a:solidFill>
              <a:srgbClr val="00B4D8"/>
            </a:solidFill>
            <a:prstDash val="solid"/>
          </a:ln>
        </p:spPr>
      </p:sp>
      <p:sp>
        <p:nvSpPr>
          <p:cNvPr id="18" name="Text 16"/>
          <p:cNvSpPr/>
          <p:nvPr/>
        </p:nvSpPr>
        <p:spPr>
          <a:xfrm>
            <a:off x="4183380" y="1051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3822192" y="1828800"/>
            <a:ext cx="13716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Kustomize</a:t>
            </a:r>
            <a:endParaRPr lang="en-US" sz="1200" dirty="0"/>
          </a:p>
        </p:txBody>
      </p:sp>
      <p:sp>
        <p:nvSpPr>
          <p:cNvPr id="20" name="Text 18"/>
          <p:cNvSpPr/>
          <p:nvPr/>
        </p:nvSpPr>
        <p:spPr>
          <a:xfrm>
            <a:off x="3822192" y="2331720"/>
            <a:ext cx="1371600" cy="1645920"/>
          </a:xfrm>
          <a:prstGeom prst="rect">
            <a:avLst/>
          </a:prstGeom>
          <a:noFill/>
          <a:ln/>
        </p:spPr>
        <p:txBody>
          <a:bodyPr wrap="square" lIns="0" tIns="0" rIns="0" bIns="0" rtlCol="0" anchor="ctr"/>
          <a:lstStyle/>
          <a:p>
            <a:pPr algn="ctr" indent="0" marL="0">
              <a:buNone/>
            </a:pPr>
            <a:r>
              <a:rPr lang="en-US" sz="1000" dirty="0">
                <a:solidFill>
                  <a:srgbClr val="065A82"/>
                </a:solidFill>
                <a:latin typeface="Calibri" pitchFamily="34" charset="0"/>
                <a:ea typeface="Calibri" pitchFamily="34" charset="-122"/>
                <a:cs typeface="Calibri" pitchFamily="34" charset="-120"/>
              </a:rPr>
              <a:t>Update overlay</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kustomization.yaml</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auto-committed</a:t>
            </a:r>
            <a:endParaRPr lang="en-US" sz="1000" dirty="0"/>
          </a:p>
        </p:txBody>
      </p:sp>
      <p:sp>
        <p:nvSpPr>
          <p:cNvPr id="21" name="Shape 19"/>
          <p:cNvSpPr/>
          <p:nvPr/>
        </p:nvSpPr>
        <p:spPr>
          <a:xfrm>
            <a:off x="5303520" y="2606040"/>
            <a:ext cx="155448" cy="54864"/>
          </a:xfrm>
          <a:prstGeom prst="rect">
            <a:avLst/>
          </a:prstGeom>
          <a:solidFill>
            <a:srgbClr val="8EAFC2"/>
          </a:solidFill>
          <a:ln w="12700">
            <a:solidFill>
              <a:srgbClr val="8EAFC2"/>
            </a:solidFill>
            <a:prstDash val="solid"/>
          </a:ln>
        </p:spPr>
      </p:sp>
      <p:sp>
        <p:nvSpPr>
          <p:cNvPr id="22" name="Shape 20"/>
          <p:cNvSpPr/>
          <p:nvPr/>
        </p:nvSpPr>
        <p:spPr>
          <a:xfrm>
            <a:off x="5486400" y="960120"/>
            <a:ext cx="1508760" cy="3474720"/>
          </a:xfrm>
          <a:prstGeom prst="rect">
            <a:avLst/>
          </a:prstGeom>
          <a:solidFill>
            <a:srgbClr val="FFFFFF"/>
          </a:solidFill>
          <a:ln w="25400">
            <a:solidFill>
              <a:srgbClr val="FFD166"/>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5920740" y="1051560"/>
            <a:ext cx="640080" cy="640080"/>
          </a:xfrm>
          <a:prstGeom prst="ellipse">
            <a:avLst/>
          </a:prstGeom>
          <a:solidFill>
            <a:srgbClr val="FFD166"/>
          </a:solidFill>
          <a:ln w="12700">
            <a:solidFill>
              <a:srgbClr val="FFD166"/>
            </a:solidFill>
            <a:prstDash val="solid"/>
          </a:ln>
        </p:spPr>
      </p:sp>
      <p:sp>
        <p:nvSpPr>
          <p:cNvPr id="24" name="Text 22"/>
          <p:cNvSpPr/>
          <p:nvPr/>
        </p:nvSpPr>
        <p:spPr>
          <a:xfrm>
            <a:off x="5920740" y="1051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5559552" y="1828800"/>
            <a:ext cx="13716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Merge Flow</a:t>
            </a:r>
            <a:endParaRPr lang="en-US" sz="1200" dirty="0"/>
          </a:p>
        </p:txBody>
      </p:sp>
      <p:sp>
        <p:nvSpPr>
          <p:cNvPr id="26" name="Text 24"/>
          <p:cNvSpPr/>
          <p:nvPr/>
        </p:nvSpPr>
        <p:spPr>
          <a:xfrm>
            <a:off x="5559552" y="2331720"/>
            <a:ext cx="1371600" cy="1645920"/>
          </a:xfrm>
          <a:prstGeom prst="rect">
            <a:avLst/>
          </a:prstGeom>
          <a:noFill/>
          <a:ln/>
        </p:spPr>
        <p:txBody>
          <a:bodyPr wrap="square" lIns="0" tIns="0" rIns="0" bIns="0" rtlCol="0" anchor="ctr"/>
          <a:lstStyle/>
          <a:p>
            <a:pPr algn="ctr" indent="0" marL="0">
              <a:buNone/>
            </a:pPr>
            <a:r>
              <a:rPr lang="en-US" sz="1000" dirty="0">
                <a:solidFill>
                  <a:srgbClr val="065A82"/>
                </a:solidFill>
                <a:latin typeface="Calibri" pitchFamily="34" charset="0"/>
                <a:ea typeface="Calibri" pitchFamily="34" charset="-122"/>
                <a:cs typeface="Calibri" pitchFamily="34" charset="-120"/>
              </a:rPr>
              <a:t>dev → staging</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staging → main</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QA at each stage</a:t>
            </a:r>
            <a:endParaRPr lang="en-US" sz="1000" dirty="0"/>
          </a:p>
        </p:txBody>
      </p:sp>
      <p:sp>
        <p:nvSpPr>
          <p:cNvPr id="27" name="Shape 25"/>
          <p:cNvSpPr/>
          <p:nvPr/>
        </p:nvSpPr>
        <p:spPr>
          <a:xfrm>
            <a:off x="7040880" y="2606040"/>
            <a:ext cx="155448" cy="54864"/>
          </a:xfrm>
          <a:prstGeom prst="rect">
            <a:avLst/>
          </a:prstGeom>
          <a:solidFill>
            <a:srgbClr val="8EAFC2"/>
          </a:solidFill>
          <a:ln w="12700">
            <a:solidFill>
              <a:srgbClr val="8EAFC2"/>
            </a:solidFill>
            <a:prstDash val="solid"/>
          </a:ln>
        </p:spPr>
      </p:sp>
      <p:sp>
        <p:nvSpPr>
          <p:cNvPr id="28" name="Shape 26"/>
          <p:cNvSpPr/>
          <p:nvPr/>
        </p:nvSpPr>
        <p:spPr>
          <a:xfrm>
            <a:off x="7223760" y="960120"/>
            <a:ext cx="1508760" cy="3474720"/>
          </a:xfrm>
          <a:prstGeom prst="rect">
            <a:avLst/>
          </a:prstGeom>
          <a:solidFill>
            <a:srgbClr val="FFFFFF"/>
          </a:solidFill>
          <a:ln w="25400">
            <a:solidFill>
              <a:srgbClr val="00C48C"/>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7658100" y="1051560"/>
            <a:ext cx="640080" cy="640080"/>
          </a:xfrm>
          <a:prstGeom prst="ellipse">
            <a:avLst/>
          </a:prstGeom>
          <a:solidFill>
            <a:srgbClr val="00C48C"/>
          </a:solidFill>
          <a:ln w="12700">
            <a:solidFill>
              <a:srgbClr val="00C48C"/>
            </a:solidFill>
            <a:prstDash val="solid"/>
          </a:ln>
        </p:spPr>
      </p:sp>
      <p:sp>
        <p:nvSpPr>
          <p:cNvPr id="30" name="Text 28"/>
          <p:cNvSpPr/>
          <p:nvPr/>
        </p:nvSpPr>
        <p:spPr>
          <a:xfrm>
            <a:off x="7658100" y="10515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7296912" y="1828800"/>
            <a:ext cx="13716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ArgoCD Sync</a:t>
            </a:r>
            <a:endParaRPr lang="en-US" sz="1200" dirty="0"/>
          </a:p>
        </p:txBody>
      </p:sp>
      <p:sp>
        <p:nvSpPr>
          <p:cNvPr id="32" name="Text 30"/>
          <p:cNvSpPr/>
          <p:nvPr/>
        </p:nvSpPr>
        <p:spPr>
          <a:xfrm>
            <a:off x="7296912" y="2331720"/>
            <a:ext cx="1371600" cy="1645920"/>
          </a:xfrm>
          <a:prstGeom prst="rect">
            <a:avLst/>
          </a:prstGeom>
          <a:noFill/>
          <a:ln/>
        </p:spPr>
        <p:txBody>
          <a:bodyPr wrap="square" lIns="0" tIns="0" rIns="0" bIns="0" rtlCol="0" anchor="ctr"/>
          <a:lstStyle/>
          <a:p>
            <a:pPr algn="ctr" indent="0" marL="0">
              <a:buNone/>
            </a:pPr>
            <a:r>
              <a:rPr lang="en-US" sz="1000" dirty="0">
                <a:solidFill>
                  <a:srgbClr val="065A82"/>
                </a:solidFill>
                <a:latin typeface="Calibri" pitchFamily="34" charset="0"/>
                <a:ea typeface="Calibri" pitchFamily="34" charset="-122"/>
                <a:cs typeface="Calibri" pitchFamily="34" charset="-120"/>
              </a:rPr>
              <a:t>Detects main branch</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change, deploys</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to k3s cluster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C7293"/>
          </a:solidFill>
          <a:ln w="12700">
            <a:solidFill>
              <a:srgbClr val="1C7293"/>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Branching Strategy</a:t>
            </a:r>
            <a:endParaRPr lang="en-US" sz="2600" dirty="0"/>
          </a:p>
        </p:txBody>
      </p:sp>
      <p:sp>
        <p:nvSpPr>
          <p:cNvPr id="4" name="Shape 2"/>
          <p:cNvSpPr/>
          <p:nvPr/>
        </p:nvSpPr>
        <p:spPr>
          <a:xfrm>
            <a:off x="274320" y="1051560"/>
            <a:ext cx="8595360" cy="1005840"/>
          </a:xfrm>
          <a:prstGeom prst="rect">
            <a:avLst/>
          </a:prstGeom>
          <a:solidFill>
            <a:srgbClr val="162435"/>
          </a:solidFill>
          <a:ln w="19050">
            <a:solidFill>
              <a:srgbClr val="00B4D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1051560"/>
            <a:ext cx="1463040" cy="1005840"/>
          </a:xfrm>
          <a:prstGeom prst="rect">
            <a:avLst/>
          </a:prstGeom>
          <a:solidFill>
            <a:srgbClr val="00B4D8"/>
          </a:solidFill>
          <a:ln w="12700">
            <a:solidFill>
              <a:srgbClr val="00B4D8"/>
            </a:solidFill>
            <a:prstDash val="solid"/>
          </a:ln>
        </p:spPr>
      </p:sp>
      <p:sp>
        <p:nvSpPr>
          <p:cNvPr id="6" name="Text 4"/>
          <p:cNvSpPr/>
          <p:nvPr/>
        </p:nvSpPr>
        <p:spPr>
          <a:xfrm>
            <a:off x="274320" y="1051560"/>
            <a:ext cx="1463040" cy="1005840"/>
          </a:xfrm>
          <a:prstGeom prst="rect">
            <a:avLst/>
          </a:prstGeom>
          <a:noFill/>
          <a:ln/>
        </p:spPr>
        <p:txBody>
          <a:bodyPr wrap="square" lIns="0" tIns="0" rIns="0" bIns="0" rtlCol="0" anchor="ctr"/>
          <a:lstStyle/>
          <a:p>
            <a:pPr algn="ctr" indent="0" marL="0">
              <a:buNone/>
            </a:pPr>
            <a:r>
              <a:rPr lang="en-US" sz="2000" b="1" dirty="0">
                <a:solidFill>
                  <a:srgbClr val="0D1B2A"/>
                </a:solidFill>
                <a:latin typeface="Consolas" pitchFamily="34" charset="0"/>
                <a:ea typeface="Consolas" pitchFamily="34" charset="-122"/>
                <a:cs typeface="Consolas" pitchFamily="34" charset="-120"/>
              </a:rPr>
              <a:t>dev</a:t>
            </a:r>
            <a:endParaRPr lang="en-US" sz="2000" dirty="0"/>
          </a:p>
        </p:txBody>
      </p:sp>
      <p:sp>
        <p:nvSpPr>
          <p:cNvPr id="7" name="Text 5"/>
          <p:cNvSpPr/>
          <p:nvPr/>
        </p:nvSpPr>
        <p:spPr>
          <a:xfrm>
            <a:off x="1920240" y="1143000"/>
            <a:ext cx="6766560" cy="347472"/>
          </a:xfrm>
          <a:prstGeom prst="rect">
            <a:avLst/>
          </a:prstGeom>
          <a:noFill/>
          <a:ln/>
        </p:spPr>
        <p:txBody>
          <a:bodyPr wrap="square" lIns="0" tIns="0" rIns="0" bIns="0" rtlCol="0" anchor="ctr"/>
          <a:lstStyle/>
          <a:p>
            <a:pPr indent="0" marL="0">
              <a:buNone/>
            </a:pPr>
            <a:r>
              <a:rPr lang="en-US" sz="1200" dirty="0">
                <a:solidFill>
                  <a:srgbClr val="8EAFC2"/>
                </a:solidFill>
                <a:latin typeface="Calibri" pitchFamily="34" charset="0"/>
                <a:ea typeface="Calibri" pitchFamily="34" charset="-122"/>
                <a:cs typeface="Calibri" pitchFamily="34" charset="-120"/>
              </a:rPr>
              <a:t>Environment: kind-dev-cluster</a:t>
            </a:r>
            <a:endParaRPr lang="en-US" sz="1200" dirty="0"/>
          </a:p>
        </p:txBody>
      </p:sp>
      <p:sp>
        <p:nvSpPr>
          <p:cNvPr id="8" name="Text 6"/>
          <p:cNvSpPr/>
          <p:nvPr/>
        </p:nvSpPr>
        <p:spPr>
          <a:xfrm>
            <a:off x="1920240" y="1527048"/>
            <a:ext cx="6766560" cy="34747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Image: yaki2026/my-web-app:dev-{SHA}</a:t>
            </a:r>
            <a:endParaRPr lang="en-US" sz="1300" dirty="0"/>
          </a:p>
        </p:txBody>
      </p:sp>
      <p:sp>
        <p:nvSpPr>
          <p:cNvPr id="9" name="Shape 7"/>
          <p:cNvSpPr/>
          <p:nvPr/>
        </p:nvSpPr>
        <p:spPr>
          <a:xfrm>
            <a:off x="1005840" y="1965960"/>
            <a:ext cx="36576" cy="274320"/>
          </a:xfrm>
          <a:prstGeom prst="rect">
            <a:avLst/>
          </a:prstGeom>
          <a:solidFill>
            <a:srgbClr val="8EAFC2"/>
          </a:solidFill>
          <a:ln w="12700">
            <a:solidFill>
              <a:srgbClr val="8EAFC2"/>
            </a:solidFill>
            <a:prstDash val="solid"/>
          </a:ln>
        </p:spPr>
      </p:sp>
      <p:sp>
        <p:nvSpPr>
          <p:cNvPr id="10" name="Shape 8"/>
          <p:cNvSpPr/>
          <p:nvPr/>
        </p:nvSpPr>
        <p:spPr>
          <a:xfrm>
            <a:off x="274320" y="2240280"/>
            <a:ext cx="8595360" cy="1005840"/>
          </a:xfrm>
          <a:prstGeom prst="rect">
            <a:avLst/>
          </a:prstGeom>
          <a:solidFill>
            <a:srgbClr val="162435"/>
          </a:solidFill>
          <a:ln w="19050">
            <a:solidFill>
              <a:srgbClr val="FFD166"/>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74320" y="2240280"/>
            <a:ext cx="1463040" cy="1005840"/>
          </a:xfrm>
          <a:prstGeom prst="rect">
            <a:avLst/>
          </a:prstGeom>
          <a:solidFill>
            <a:srgbClr val="FFD166"/>
          </a:solidFill>
          <a:ln w="12700">
            <a:solidFill>
              <a:srgbClr val="FFD166"/>
            </a:solidFill>
            <a:prstDash val="solid"/>
          </a:ln>
        </p:spPr>
      </p:sp>
      <p:sp>
        <p:nvSpPr>
          <p:cNvPr id="12" name="Text 10"/>
          <p:cNvSpPr/>
          <p:nvPr/>
        </p:nvSpPr>
        <p:spPr>
          <a:xfrm>
            <a:off x="274320" y="2240280"/>
            <a:ext cx="1463040" cy="1005840"/>
          </a:xfrm>
          <a:prstGeom prst="rect">
            <a:avLst/>
          </a:prstGeom>
          <a:noFill/>
          <a:ln/>
        </p:spPr>
        <p:txBody>
          <a:bodyPr wrap="square" lIns="0" tIns="0" rIns="0" bIns="0" rtlCol="0" anchor="ctr"/>
          <a:lstStyle/>
          <a:p>
            <a:pPr algn="ctr" indent="0" marL="0">
              <a:buNone/>
            </a:pPr>
            <a:r>
              <a:rPr lang="en-US" sz="2000" b="1" dirty="0">
                <a:solidFill>
                  <a:srgbClr val="0D1B2A"/>
                </a:solidFill>
                <a:latin typeface="Consolas" pitchFamily="34" charset="0"/>
                <a:ea typeface="Consolas" pitchFamily="34" charset="-122"/>
                <a:cs typeface="Consolas" pitchFamily="34" charset="-120"/>
              </a:rPr>
              <a:t>staging</a:t>
            </a:r>
            <a:endParaRPr lang="en-US" sz="2000" dirty="0"/>
          </a:p>
        </p:txBody>
      </p:sp>
      <p:sp>
        <p:nvSpPr>
          <p:cNvPr id="13" name="Text 11"/>
          <p:cNvSpPr/>
          <p:nvPr/>
        </p:nvSpPr>
        <p:spPr>
          <a:xfrm>
            <a:off x="1920240" y="2331720"/>
            <a:ext cx="6766560" cy="347472"/>
          </a:xfrm>
          <a:prstGeom prst="rect">
            <a:avLst/>
          </a:prstGeom>
          <a:noFill/>
          <a:ln/>
        </p:spPr>
        <p:txBody>
          <a:bodyPr wrap="square" lIns="0" tIns="0" rIns="0" bIns="0" rtlCol="0" anchor="ctr"/>
          <a:lstStyle/>
          <a:p>
            <a:pPr indent="0" marL="0">
              <a:buNone/>
            </a:pPr>
            <a:r>
              <a:rPr lang="en-US" sz="1200" dirty="0">
                <a:solidFill>
                  <a:srgbClr val="8EAFC2"/>
                </a:solidFill>
                <a:latin typeface="Calibri" pitchFamily="34" charset="0"/>
                <a:ea typeface="Calibri" pitchFamily="34" charset="-122"/>
                <a:cs typeface="Calibri" pitchFamily="34" charset="-120"/>
              </a:rPr>
              <a:t>Environment: kind-staging-cluster</a:t>
            </a:r>
            <a:endParaRPr lang="en-US" sz="1200" dirty="0"/>
          </a:p>
        </p:txBody>
      </p:sp>
      <p:sp>
        <p:nvSpPr>
          <p:cNvPr id="14" name="Text 12"/>
          <p:cNvSpPr/>
          <p:nvPr/>
        </p:nvSpPr>
        <p:spPr>
          <a:xfrm>
            <a:off x="1920240" y="2715768"/>
            <a:ext cx="6766560" cy="34747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Image: yaki2026/my-web-app:staging-{SHA}</a:t>
            </a:r>
            <a:endParaRPr lang="en-US" sz="1300" dirty="0"/>
          </a:p>
        </p:txBody>
      </p:sp>
      <p:sp>
        <p:nvSpPr>
          <p:cNvPr id="15" name="Shape 13"/>
          <p:cNvSpPr/>
          <p:nvPr/>
        </p:nvSpPr>
        <p:spPr>
          <a:xfrm>
            <a:off x="1005840" y="3154680"/>
            <a:ext cx="36576" cy="274320"/>
          </a:xfrm>
          <a:prstGeom prst="rect">
            <a:avLst/>
          </a:prstGeom>
          <a:solidFill>
            <a:srgbClr val="8EAFC2"/>
          </a:solidFill>
          <a:ln w="12700">
            <a:solidFill>
              <a:srgbClr val="8EAFC2"/>
            </a:solidFill>
            <a:prstDash val="solid"/>
          </a:ln>
        </p:spPr>
      </p:sp>
      <p:sp>
        <p:nvSpPr>
          <p:cNvPr id="16" name="Shape 14"/>
          <p:cNvSpPr/>
          <p:nvPr/>
        </p:nvSpPr>
        <p:spPr>
          <a:xfrm>
            <a:off x="274320" y="3429000"/>
            <a:ext cx="8595360" cy="1005840"/>
          </a:xfrm>
          <a:prstGeom prst="rect">
            <a:avLst/>
          </a:prstGeom>
          <a:solidFill>
            <a:srgbClr val="162435"/>
          </a:solidFill>
          <a:ln w="19050">
            <a:solidFill>
              <a:srgbClr val="00C48C"/>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274320" y="3429000"/>
            <a:ext cx="1463040" cy="1005840"/>
          </a:xfrm>
          <a:prstGeom prst="rect">
            <a:avLst/>
          </a:prstGeom>
          <a:solidFill>
            <a:srgbClr val="00C48C"/>
          </a:solidFill>
          <a:ln w="12700">
            <a:solidFill>
              <a:srgbClr val="00C48C"/>
            </a:solidFill>
            <a:prstDash val="solid"/>
          </a:ln>
        </p:spPr>
      </p:sp>
      <p:sp>
        <p:nvSpPr>
          <p:cNvPr id="18" name="Text 16"/>
          <p:cNvSpPr/>
          <p:nvPr/>
        </p:nvSpPr>
        <p:spPr>
          <a:xfrm>
            <a:off x="274320" y="3429000"/>
            <a:ext cx="1463040" cy="1005840"/>
          </a:xfrm>
          <a:prstGeom prst="rect">
            <a:avLst/>
          </a:prstGeom>
          <a:noFill/>
          <a:ln/>
        </p:spPr>
        <p:txBody>
          <a:bodyPr wrap="square" lIns="0" tIns="0" rIns="0" bIns="0" rtlCol="0" anchor="ctr"/>
          <a:lstStyle/>
          <a:p>
            <a:pPr algn="ctr" indent="0" marL="0">
              <a:buNone/>
            </a:pPr>
            <a:r>
              <a:rPr lang="en-US" sz="2000" b="1" dirty="0">
                <a:solidFill>
                  <a:srgbClr val="0D1B2A"/>
                </a:solidFill>
                <a:latin typeface="Consolas" pitchFamily="34" charset="0"/>
                <a:ea typeface="Consolas" pitchFamily="34" charset="-122"/>
                <a:cs typeface="Consolas" pitchFamily="34" charset="-120"/>
              </a:rPr>
              <a:t>main</a:t>
            </a:r>
            <a:endParaRPr lang="en-US" sz="2000" dirty="0"/>
          </a:p>
        </p:txBody>
      </p:sp>
      <p:sp>
        <p:nvSpPr>
          <p:cNvPr id="19" name="Text 17"/>
          <p:cNvSpPr/>
          <p:nvPr/>
        </p:nvSpPr>
        <p:spPr>
          <a:xfrm>
            <a:off x="1920240" y="3520440"/>
            <a:ext cx="6766560" cy="347472"/>
          </a:xfrm>
          <a:prstGeom prst="rect">
            <a:avLst/>
          </a:prstGeom>
          <a:noFill/>
          <a:ln/>
        </p:spPr>
        <p:txBody>
          <a:bodyPr wrap="square" lIns="0" tIns="0" rIns="0" bIns="0" rtlCol="0" anchor="ctr"/>
          <a:lstStyle/>
          <a:p>
            <a:pPr indent="0" marL="0">
              <a:buNone/>
            </a:pPr>
            <a:r>
              <a:rPr lang="en-US" sz="1200" dirty="0">
                <a:solidFill>
                  <a:srgbClr val="8EAFC2"/>
                </a:solidFill>
                <a:latin typeface="Calibri" pitchFamily="34" charset="0"/>
                <a:ea typeface="Calibri" pitchFamily="34" charset="-122"/>
                <a:cs typeface="Calibri" pitchFamily="34" charset="-120"/>
              </a:rPr>
              <a:t>Environment: k3s prod (Ubuntu VM)</a:t>
            </a:r>
            <a:endParaRPr lang="en-US" sz="1200" dirty="0"/>
          </a:p>
        </p:txBody>
      </p:sp>
      <p:sp>
        <p:nvSpPr>
          <p:cNvPr id="20" name="Text 18"/>
          <p:cNvSpPr/>
          <p:nvPr/>
        </p:nvSpPr>
        <p:spPr>
          <a:xfrm>
            <a:off x="1920240" y="3904488"/>
            <a:ext cx="6766560" cy="347472"/>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Image: yaki2026/my-web-app:prod-{SHA}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GitOps with ArgoCD</a:t>
            </a:r>
            <a:endParaRPr lang="en-US" sz="2600" dirty="0"/>
          </a:p>
        </p:txBody>
      </p:sp>
      <p:sp>
        <p:nvSpPr>
          <p:cNvPr id="4" name="Text 2"/>
          <p:cNvSpPr/>
          <p:nvPr/>
        </p:nvSpPr>
        <p:spPr>
          <a:xfrm>
            <a:off x="365760" y="960120"/>
            <a:ext cx="4114800" cy="411480"/>
          </a:xfrm>
          <a:prstGeom prst="rect">
            <a:avLst/>
          </a:prstGeom>
          <a:noFill/>
          <a:ln/>
        </p:spPr>
        <p:txBody>
          <a:bodyPr wrap="square" lIns="0" tIns="0" rIns="0" bIns="0" rtlCol="0" anchor="ctr"/>
          <a:lstStyle/>
          <a:p>
            <a:pPr indent="0" marL="0">
              <a:buNone/>
            </a:pPr>
            <a:r>
              <a:rPr lang="en-US" sz="1600" b="1" dirty="0">
                <a:solidFill>
                  <a:srgbClr val="0D1B2A"/>
                </a:solidFill>
                <a:latin typeface="Calibri" pitchFamily="34" charset="0"/>
                <a:ea typeface="Calibri" pitchFamily="34" charset="-122"/>
                <a:cs typeface="Calibri" pitchFamily="34" charset="-120"/>
              </a:rPr>
              <a:t>What is GitOps?</a:t>
            </a:r>
            <a:endParaRPr lang="en-US" sz="1600" dirty="0"/>
          </a:p>
        </p:txBody>
      </p:sp>
      <p:sp>
        <p:nvSpPr>
          <p:cNvPr id="5" name="Shape 3"/>
          <p:cNvSpPr/>
          <p:nvPr/>
        </p:nvSpPr>
        <p:spPr>
          <a:xfrm>
            <a:off x="365760" y="1463040"/>
            <a:ext cx="201168" cy="201168"/>
          </a:xfrm>
          <a:prstGeom prst="ellipse">
            <a:avLst/>
          </a:prstGeom>
          <a:solidFill>
            <a:srgbClr val="00B4D8"/>
          </a:solidFill>
          <a:ln w="12700">
            <a:solidFill>
              <a:srgbClr val="00B4D8"/>
            </a:solidFill>
            <a:prstDash val="solid"/>
          </a:ln>
        </p:spPr>
      </p:sp>
      <p:sp>
        <p:nvSpPr>
          <p:cNvPr id="6" name="Text 4"/>
          <p:cNvSpPr/>
          <p:nvPr/>
        </p:nvSpPr>
        <p:spPr>
          <a:xfrm>
            <a:off x="658368" y="1444752"/>
            <a:ext cx="3657600" cy="256032"/>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Git is the single source of truth</a:t>
            </a:r>
            <a:endParaRPr lang="en-US" sz="1200" dirty="0"/>
          </a:p>
        </p:txBody>
      </p:sp>
      <p:sp>
        <p:nvSpPr>
          <p:cNvPr id="7" name="Shape 5"/>
          <p:cNvSpPr/>
          <p:nvPr/>
        </p:nvSpPr>
        <p:spPr>
          <a:xfrm>
            <a:off x="365760" y="1938528"/>
            <a:ext cx="201168" cy="201168"/>
          </a:xfrm>
          <a:prstGeom prst="ellipse">
            <a:avLst/>
          </a:prstGeom>
          <a:solidFill>
            <a:srgbClr val="00B4D8"/>
          </a:solidFill>
          <a:ln w="12700">
            <a:solidFill>
              <a:srgbClr val="00B4D8"/>
            </a:solidFill>
            <a:prstDash val="solid"/>
          </a:ln>
        </p:spPr>
      </p:sp>
      <p:sp>
        <p:nvSpPr>
          <p:cNvPr id="8" name="Text 6"/>
          <p:cNvSpPr/>
          <p:nvPr/>
        </p:nvSpPr>
        <p:spPr>
          <a:xfrm>
            <a:off x="658368" y="1920240"/>
            <a:ext cx="3657600" cy="256032"/>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Desired state declared in the repo</a:t>
            </a:r>
            <a:endParaRPr lang="en-US" sz="1200" dirty="0"/>
          </a:p>
        </p:txBody>
      </p:sp>
      <p:sp>
        <p:nvSpPr>
          <p:cNvPr id="9" name="Shape 7"/>
          <p:cNvSpPr/>
          <p:nvPr/>
        </p:nvSpPr>
        <p:spPr>
          <a:xfrm>
            <a:off x="365760" y="2414016"/>
            <a:ext cx="201168" cy="201168"/>
          </a:xfrm>
          <a:prstGeom prst="ellipse">
            <a:avLst/>
          </a:prstGeom>
          <a:solidFill>
            <a:srgbClr val="00B4D8"/>
          </a:solidFill>
          <a:ln w="12700">
            <a:solidFill>
              <a:srgbClr val="00B4D8"/>
            </a:solidFill>
            <a:prstDash val="solid"/>
          </a:ln>
        </p:spPr>
      </p:sp>
      <p:sp>
        <p:nvSpPr>
          <p:cNvPr id="10" name="Text 8"/>
          <p:cNvSpPr/>
          <p:nvPr/>
        </p:nvSpPr>
        <p:spPr>
          <a:xfrm>
            <a:off x="658368" y="2395728"/>
            <a:ext cx="3657600" cy="256032"/>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ArgoCD continuously reconciles</a:t>
            </a:r>
            <a:endParaRPr lang="en-US" sz="1200" dirty="0"/>
          </a:p>
        </p:txBody>
      </p:sp>
      <p:sp>
        <p:nvSpPr>
          <p:cNvPr id="11" name="Shape 9"/>
          <p:cNvSpPr/>
          <p:nvPr/>
        </p:nvSpPr>
        <p:spPr>
          <a:xfrm>
            <a:off x="365760" y="2889504"/>
            <a:ext cx="201168" cy="201168"/>
          </a:xfrm>
          <a:prstGeom prst="ellipse">
            <a:avLst/>
          </a:prstGeom>
          <a:solidFill>
            <a:srgbClr val="00B4D8"/>
          </a:solidFill>
          <a:ln w="12700">
            <a:solidFill>
              <a:srgbClr val="00B4D8"/>
            </a:solidFill>
            <a:prstDash val="solid"/>
          </a:ln>
        </p:spPr>
      </p:sp>
      <p:sp>
        <p:nvSpPr>
          <p:cNvPr id="12" name="Text 10"/>
          <p:cNvSpPr/>
          <p:nvPr/>
        </p:nvSpPr>
        <p:spPr>
          <a:xfrm>
            <a:off x="658368" y="2871216"/>
            <a:ext cx="3657600" cy="256032"/>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Any drift is automatically corrected</a:t>
            </a:r>
            <a:endParaRPr lang="en-US" sz="1200" dirty="0"/>
          </a:p>
        </p:txBody>
      </p:sp>
      <p:sp>
        <p:nvSpPr>
          <p:cNvPr id="13" name="Shape 11"/>
          <p:cNvSpPr/>
          <p:nvPr/>
        </p:nvSpPr>
        <p:spPr>
          <a:xfrm>
            <a:off x="365760" y="3364992"/>
            <a:ext cx="201168" cy="201168"/>
          </a:xfrm>
          <a:prstGeom prst="ellipse">
            <a:avLst/>
          </a:prstGeom>
          <a:solidFill>
            <a:srgbClr val="00B4D8"/>
          </a:solidFill>
          <a:ln w="12700">
            <a:solidFill>
              <a:srgbClr val="00B4D8"/>
            </a:solidFill>
            <a:prstDash val="solid"/>
          </a:ln>
        </p:spPr>
      </p:sp>
      <p:sp>
        <p:nvSpPr>
          <p:cNvPr id="14" name="Text 12"/>
          <p:cNvSpPr/>
          <p:nvPr/>
        </p:nvSpPr>
        <p:spPr>
          <a:xfrm>
            <a:off x="658368" y="3346704"/>
            <a:ext cx="3657600" cy="256032"/>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Full audit trail via git history</a:t>
            </a:r>
            <a:endParaRPr lang="en-US" sz="1200" dirty="0"/>
          </a:p>
        </p:txBody>
      </p:sp>
      <p:sp>
        <p:nvSpPr>
          <p:cNvPr id="15" name="Shape 13"/>
          <p:cNvSpPr/>
          <p:nvPr/>
        </p:nvSpPr>
        <p:spPr>
          <a:xfrm>
            <a:off x="4754880" y="914400"/>
            <a:ext cx="4114800" cy="3840480"/>
          </a:xfrm>
          <a:prstGeom prst="rect">
            <a:avLst/>
          </a:prstGeom>
          <a:solidFill>
            <a:srgbClr val="0D1B2A"/>
          </a:solidFill>
          <a:ln w="19050">
            <a:solidFill>
              <a:srgbClr val="00B4D8"/>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4754880" y="914400"/>
            <a:ext cx="4114800" cy="457200"/>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ArgoCD Configuration</a:t>
            </a:r>
            <a:endParaRPr lang="en-US" sz="1300" dirty="0"/>
          </a:p>
        </p:txBody>
      </p:sp>
      <p:sp>
        <p:nvSpPr>
          <p:cNvPr id="17" name="Shape 15"/>
          <p:cNvSpPr/>
          <p:nvPr/>
        </p:nvSpPr>
        <p:spPr>
          <a:xfrm>
            <a:off x="4892040" y="1508760"/>
            <a:ext cx="1188720" cy="320040"/>
          </a:xfrm>
          <a:prstGeom prst="rect">
            <a:avLst/>
          </a:prstGeom>
          <a:solidFill>
            <a:srgbClr val="065A82"/>
          </a:solidFill>
          <a:ln w="12700">
            <a:solidFill>
              <a:srgbClr val="065A82"/>
            </a:solidFill>
            <a:prstDash val="solid"/>
          </a:ln>
        </p:spPr>
      </p:sp>
      <p:sp>
        <p:nvSpPr>
          <p:cNvPr id="18" name="Text 16"/>
          <p:cNvSpPr/>
          <p:nvPr/>
        </p:nvSpPr>
        <p:spPr>
          <a:xfrm>
            <a:off x="4892040" y="150876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Repo</a:t>
            </a:r>
            <a:endParaRPr lang="en-US" sz="1000" dirty="0"/>
          </a:p>
        </p:txBody>
      </p:sp>
      <p:sp>
        <p:nvSpPr>
          <p:cNvPr id="19" name="Text 17"/>
          <p:cNvSpPr/>
          <p:nvPr/>
        </p:nvSpPr>
        <p:spPr>
          <a:xfrm>
            <a:off x="6172200" y="1508760"/>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github.com/yzimm/yaki-devops-lab</a:t>
            </a:r>
            <a:endParaRPr lang="en-US" sz="1000" dirty="0"/>
          </a:p>
        </p:txBody>
      </p:sp>
      <p:sp>
        <p:nvSpPr>
          <p:cNvPr id="20" name="Shape 18"/>
          <p:cNvSpPr/>
          <p:nvPr/>
        </p:nvSpPr>
        <p:spPr>
          <a:xfrm>
            <a:off x="4892040" y="1938528"/>
            <a:ext cx="1188720" cy="320040"/>
          </a:xfrm>
          <a:prstGeom prst="rect">
            <a:avLst/>
          </a:prstGeom>
          <a:solidFill>
            <a:srgbClr val="065A82"/>
          </a:solidFill>
          <a:ln w="12700">
            <a:solidFill>
              <a:srgbClr val="065A82"/>
            </a:solidFill>
            <a:prstDash val="solid"/>
          </a:ln>
        </p:spPr>
      </p:sp>
      <p:sp>
        <p:nvSpPr>
          <p:cNvPr id="21" name="Text 19"/>
          <p:cNvSpPr/>
          <p:nvPr/>
        </p:nvSpPr>
        <p:spPr>
          <a:xfrm>
            <a:off x="4892040" y="1938528"/>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Path</a:t>
            </a:r>
            <a:endParaRPr lang="en-US" sz="1000" dirty="0"/>
          </a:p>
        </p:txBody>
      </p:sp>
      <p:sp>
        <p:nvSpPr>
          <p:cNvPr id="22" name="Text 20"/>
          <p:cNvSpPr/>
          <p:nvPr/>
        </p:nvSpPr>
        <p:spPr>
          <a:xfrm>
            <a:off x="6172200" y="1938528"/>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k8s/overlays/prod</a:t>
            </a:r>
            <a:endParaRPr lang="en-US" sz="1000" dirty="0"/>
          </a:p>
        </p:txBody>
      </p:sp>
      <p:sp>
        <p:nvSpPr>
          <p:cNvPr id="23" name="Shape 21"/>
          <p:cNvSpPr/>
          <p:nvPr/>
        </p:nvSpPr>
        <p:spPr>
          <a:xfrm>
            <a:off x="4892040" y="2368296"/>
            <a:ext cx="1188720" cy="320040"/>
          </a:xfrm>
          <a:prstGeom prst="rect">
            <a:avLst/>
          </a:prstGeom>
          <a:solidFill>
            <a:srgbClr val="065A82"/>
          </a:solidFill>
          <a:ln w="12700">
            <a:solidFill>
              <a:srgbClr val="065A82"/>
            </a:solidFill>
            <a:prstDash val="solid"/>
          </a:ln>
        </p:spPr>
      </p:sp>
      <p:sp>
        <p:nvSpPr>
          <p:cNvPr id="24" name="Text 22"/>
          <p:cNvSpPr/>
          <p:nvPr/>
        </p:nvSpPr>
        <p:spPr>
          <a:xfrm>
            <a:off x="4892040" y="2368296"/>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Branch</a:t>
            </a:r>
            <a:endParaRPr lang="en-US" sz="1000" dirty="0"/>
          </a:p>
        </p:txBody>
      </p:sp>
      <p:sp>
        <p:nvSpPr>
          <p:cNvPr id="25" name="Text 23"/>
          <p:cNvSpPr/>
          <p:nvPr/>
        </p:nvSpPr>
        <p:spPr>
          <a:xfrm>
            <a:off x="6172200" y="2368296"/>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main</a:t>
            </a:r>
            <a:endParaRPr lang="en-US" sz="1000" dirty="0"/>
          </a:p>
        </p:txBody>
      </p:sp>
      <p:sp>
        <p:nvSpPr>
          <p:cNvPr id="26" name="Shape 24"/>
          <p:cNvSpPr/>
          <p:nvPr/>
        </p:nvSpPr>
        <p:spPr>
          <a:xfrm>
            <a:off x="4892040" y="2798064"/>
            <a:ext cx="1188720" cy="320040"/>
          </a:xfrm>
          <a:prstGeom prst="rect">
            <a:avLst/>
          </a:prstGeom>
          <a:solidFill>
            <a:srgbClr val="065A82"/>
          </a:solidFill>
          <a:ln w="12700">
            <a:solidFill>
              <a:srgbClr val="065A82"/>
            </a:solidFill>
            <a:prstDash val="solid"/>
          </a:ln>
        </p:spPr>
      </p:sp>
      <p:sp>
        <p:nvSpPr>
          <p:cNvPr id="27" name="Text 25"/>
          <p:cNvSpPr/>
          <p:nvPr/>
        </p:nvSpPr>
        <p:spPr>
          <a:xfrm>
            <a:off x="4892040" y="2798064"/>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Namespace</a:t>
            </a:r>
            <a:endParaRPr lang="en-US" sz="1000" dirty="0"/>
          </a:p>
        </p:txBody>
      </p:sp>
      <p:sp>
        <p:nvSpPr>
          <p:cNvPr id="28" name="Text 26"/>
          <p:cNvSpPr/>
          <p:nvPr/>
        </p:nvSpPr>
        <p:spPr>
          <a:xfrm>
            <a:off x="6172200" y="2798064"/>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default</a:t>
            </a:r>
            <a:endParaRPr lang="en-US" sz="1000" dirty="0"/>
          </a:p>
        </p:txBody>
      </p:sp>
      <p:sp>
        <p:nvSpPr>
          <p:cNvPr id="29" name="Shape 27"/>
          <p:cNvSpPr/>
          <p:nvPr/>
        </p:nvSpPr>
        <p:spPr>
          <a:xfrm>
            <a:off x="4892040" y="3227832"/>
            <a:ext cx="1188720" cy="320040"/>
          </a:xfrm>
          <a:prstGeom prst="rect">
            <a:avLst/>
          </a:prstGeom>
          <a:solidFill>
            <a:srgbClr val="065A82"/>
          </a:solidFill>
          <a:ln w="12700">
            <a:solidFill>
              <a:srgbClr val="065A82"/>
            </a:solidFill>
            <a:prstDash val="solid"/>
          </a:ln>
        </p:spPr>
      </p:sp>
      <p:sp>
        <p:nvSpPr>
          <p:cNvPr id="30" name="Text 28"/>
          <p:cNvSpPr/>
          <p:nvPr/>
        </p:nvSpPr>
        <p:spPr>
          <a:xfrm>
            <a:off x="4892040" y="3227832"/>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Sync</a:t>
            </a:r>
            <a:endParaRPr lang="en-US" sz="1000" dirty="0"/>
          </a:p>
        </p:txBody>
      </p:sp>
      <p:sp>
        <p:nvSpPr>
          <p:cNvPr id="31" name="Text 29"/>
          <p:cNvSpPr/>
          <p:nvPr/>
        </p:nvSpPr>
        <p:spPr>
          <a:xfrm>
            <a:off x="6172200" y="3227832"/>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Automated</a:t>
            </a:r>
            <a:endParaRPr lang="en-US" sz="1000" dirty="0"/>
          </a:p>
        </p:txBody>
      </p:sp>
      <p:sp>
        <p:nvSpPr>
          <p:cNvPr id="32" name="Shape 30"/>
          <p:cNvSpPr/>
          <p:nvPr/>
        </p:nvSpPr>
        <p:spPr>
          <a:xfrm>
            <a:off x="4892040" y="3657600"/>
            <a:ext cx="1188720" cy="320040"/>
          </a:xfrm>
          <a:prstGeom prst="rect">
            <a:avLst/>
          </a:prstGeom>
          <a:solidFill>
            <a:srgbClr val="065A82"/>
          </a:solidFill>
          <a:ln w="12700">
            <a:solidFill>
              <a:srgbClr val="065A82"/>
            </a:solidFill>
            <a:prstDash val="solid"/>
          </a:ln>
        </p:spPr>
      </p:sp>
      <p:sp>
        <p:nvSpPr>
          <p:cNvPr id="33" name="Text 31"/>
          <p:cNvSpPr/>
          <p:nvPr/>
        </p:nvSpPr>
        <p:spPr>
          <a:xfrm>
            <a:off x="4892040" y="3657600"/>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Self-Heal</a:t>
            </a:r>
            <a:endParaRPr lang="en-US" sz="1000" dirty="0"/>
          </a:p>
        </p:txBody>
      </p:sp>
      <p:sp>
        <p:nvSpPr>
          <p:cNvPr id="34" name="Text 32"/>
          <p:cNvSpPr/>
          <p:nvPr/>
        </p:nvSpPr>
        <p:spPr>
          <a:xfrm>
            <a:off x="6172200" y="3657600"/>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Enabled</a:t>
            </a:r>
            <a:endParaRPr lang="en-US" sz="1000" dirty="0"/>
          </a:p>
        </p:txBody>
      </p:sp>
      <p:sp>
        <p:nvSpPr>
          <p:cNvPr id="35" name="Shape 33"/>
          <p:cNvSpPr/>
          <p:nvPr/>
        </p:nvSpPr>
        <p:spPr>
          <a:xfrm>
            <a:off x="4892040" y="4087368"/>
            <a:ext cx="1188720" cy="320040"/>
          </a:xfrm>
          <a:prstGeom prst="rect">
            <a:avLst/>
          </a:prstGeom>
          <a:solidFill>
            <a:srgbClr val="065A82"/>
          </a:solidFill>
          <a:ln w="12700">
            <a:solidFill>
              <a:srgbClr val="065A82"/>
            </a:solidFill>
            <a:prstDash val="solid"/>
          </a:ln>
        </p:spPr>
      </p:sp>
      <p:sp>
        <p:nvSpPr>
          <p:cNvPr id="36" name="Text 34"/>
          <p:cNvSpPr/>
          <p:nvPr/>
        </p:nvSpPr>
        <p:spPr>
          <a:xfrm>
            <a:off x="4892040" y="4087368"/>
            <a:ext cx="11887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Prune</a:t>
            </a:r>
            <a:endParaRPr lang="en-US" sz="1000" dirty="0"/>
          </a:p>
        </p:txBody>
      </p:sp>
      <p:sp>
        <p:nvSpPr>
          <p:cNvPr id="37" name="Text 35"/>
          <p:cNvSpPr/>
          <p:nvPr/>
        </p:nvSpPr>
        <p:spPr>
          <a:xfrm>
            <a:off x="6172200" y="4087368"/>
            <a:ext cx="2560320" cy="320040"/>
          </a:xfrm>
          <a:prstGeom prst="rect">
            <a:avLst/>
          </a:prstGeom>
          <a:noFill/>
          <a:ln/>
        </p:spPr>
        <p:txBody>
          <a:bodyPr wrap="square" lIns="0" tIns="0" rIns="0" bIns="0" rtlCol="0" anchor="ctr"/>
          <a:lstStyle/>
          <a:p>
            <a:pPr indent="0" marL="0">
              <a:buNone/>
            </a:pPr>
            <a:r>
              <a:rPr lang="en-US" sz="1000" dirty="0">
                <a:solidFill>
                  <a:srgbClr val="8EAFC2"/>
                </a:solidFill>
                <a:latin typeface="Consolas" pitchFamily="34" charset="0"/>
                <a:ea typeface="Consolas" pitchFamily="34" charset="-122"/>
                <a:cs typeface="Consolas" pitchFamily="34" charset="-120"/>
              </a:rPr>
              <a:t>Enabled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Environment &amp; Infrastructure</a:t>
            </a:r>
            <a:endParaRPr lang="en-US" sz="2600" dirty="0"/>
          </a:p>
        </p:txBody>
      </p:sp>
      <p:sp>
        <p:nvSpPr>
          <p:cNvPr id="4" name="Shape 2"/>
          <p:cNvSpPr/>
          <p:nvPr/>
        </p:nvSpPr>
        <p:spPr>
          <a:xfrm>
            <a:off x="274320" y="960120"/>
            <a:ext cx="4023360" cy="3840480"/>
          </a:xfrm>
          <a:prstGeom prst="rect">
            <a:avLst/>
          </a:prstGeom>
          <a:solidFill>
            <a:srgbClr val="162435"/>
          </a:solidFill>
          <a:ln w="25400">
            <a:solidFill>
              <a:srgbClr val="00B4D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4023360" cy="502920"/>
          </a:xfrm>
          <a:prstGeom prst="rect">
            <a:avLst/>
          </a:prstGeom>
          <a:solidFill>
            <a:srgbClr val="00B4D8"/>
          </a:solidFill>
          <a:ln w="12700">
            <a:solidFill>
              <a:srgbClr val="00B4D8"/>
            </a:solidFill>
            <a:prstDash val="solid"/>
          </a:ln>
        </p:spPr>
      </p:sp>
      <p:sp>
        <p:nvSpPr>
          <p:cNvPr id="6" name="Text 4"/>
          <p:cNvSpPr/>
          <p:nvPr/>
        </p:nvSpPr>
        <p:spPr>
          <a:xfrm>
            <a:off x="274320" y="960120"/>
            <a:ext cx="4023360" cy="50292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  Windows Machine</a:t>
            </a:r>
            <a:endParaRPr lang="en-US" sz="1400" dirty="0"/>
          </a:p>
        </p:txBody>
      </p:sp>
      <p:sp>
        <p:nvSpPr>
          <p:cNvPr id="7" name="Text 5"/>
          <p:cNvSpPr/>
          <p:nvPr/>
        </p:nvSpPr>
        <p:spPr>
          <a:xfrm>
            <a:off x="502920" y="1600200"/>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Docker Desktop</a:t>
            </a:r>
            <a:endParaRPr lang="en-US" sz="1200" dirty="0"/>
          </a:p>
        </p:txBody>
      </p:sp>
      <p:sp>
        <p:nvSpPr>
          <p:cNvPr id="8" name="Text 6"/>
          <p:cNvSpPr/>
          <p:nvPr/>
        </p:nvSpPr>
        <p:spPr>
          <a:xfrm>
            <a:off x="502920" y="2075688"/>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kubectl + kind</a:t>
            </a:r>
            <a:endParaRPr lang="en-US" sz="1200" dirty="0"/>
          </a:p>
        </p:txBody>
      </p:sp>
      <p:sp>
        <p:nvSpPr>
          <p:cNvPr id="9" name="Text 7"/>
          <p:cNvSpPr/>
          <p:nvPr/>
        </p:nvSpPr>
        <p:spPr>
          <a:xfrm>
            <a:off x="502920" y="2551176"/>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Git + GitHub CLI</a:t>
            </a:r>
            <a:endParaRPr lang="en-US" sz="1200" dirty="0"/>
          </a:p>
        </p:txBody>
      </p:sp>
      <p:sp>
        <p:nvSpPr>
          <p:cNvPr id="10" name="Text 8"/>
          <p:cNvSpPr/>
          <p:nvPr/>
        </p:nvSpPr>
        <p:spPr>
          <a:xfrm>
            <a:off x="502920" y="3026664"/>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kind-dev-cluster</a:t>
            </a:r>
            <a:endParaRPr lang="en-US" sz="1200" dirty="0"/>
          </a:p>
        </p:txBody>
      </p:sp>
      <p:sp>
        <p:nvSpPr>
          <p:cNvPr id="11" name="Text 9"/>
          <p:cNvSpPr/>
          <p:nvPr/>
        </p:nvSpPr>
        <p:spPr>
          <a:xfrm>
            <a:off x="502920" y="3502152"/>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kind-staging-cluster</a:t>
            </a:r>
            <a:endParaRPr lang="en-US" sz="1200" dirty="0"/>
          </a:p>
        </p:txBody>
      </p:sp>
      <p:sp>
        <p:nvSpPr>
          <p:cNvPr id="12" name="Text 10"/>
          <p:cNvSpPr/>
          <p:nvPr/>
        </p:nvSpPr>
        <p:spPr>
          <a:xfrm>
            <a:off x="502920" y="3977640"/>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health-check.ps1</a:t>
            </a:r>
            <a:endParaRPr lang="en-US" sz="1200" dirty="0"/>
          </a:p>
        </p:txBody>
      </p:sp>
      <p:sp>
        <p:nvSpPr>
          <p:cNvPr id="13" name="Shape 11"/>
          <p:cNvSpPr/>
          <p:nvPr/>
        </p:nvSpPr>
        <p:spPr>
          <a:xfrm>
            <a:off x="4846320" y="960120"/>
            <a:ext cx="4023360" cy="3840480"/>
          </a:xfrm>
          <a:prstGeom prst="rect">
            <a:avLst/>
          </a:prstGeom>
          <a:solidFill>
            <a:srgbClr val="162435"/>
          </a:solidFill>
          <a:ln w="25400">
            <a:solidFill>
              <a:srgbClr val="00C48C"/>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846320" y="960120"/>
            <a:ext cx="4023360" cy="502920"/>
          </a:xfrm>
          <a:prstGeom prst="rect">
            <a:avLst/>
          </a:prstGeom>
          <a:solidFill>
            <a:srgbClr val="00C48C"/>
          </a:solidFill>
          <a:ln w="12700">
            <a:solidFill>
              <a:srgbClr val="00C48C"/>
            </a:solidFill>
            <a:prstDash val="solid"/>
          </a:ln>
        </p:spPr>
      </p:sp>
      <p:sp>
        <p:nvSpPr>
          <p:cNvPr id="15" name="Text 13"/>
          <p:cNvSpPr/>
          <p:nvPr/>
        </p:nvSpPr>
        <p:spPr>
          <a:xfrm>
            <a:off x="4846320" y="960120"/>
            <a:ext cx="4023360" cy="50292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  Ubuntu VM  (10.93.107.240)</a:t>
            </a:r>
            <a:endParaRPr lang="en-US" sz="1300" dirty="0"/>
          </a:p>
        </p:txBody>
      </p:sp>
      <p:sp>
        <p:nvSpPr>
          <p:cNvPr id="16" name="Text 14"/>
          <p:cNvSpPr/>
          <p:nvPr/>
        </p:nvSpPr>
        <p:spPr>
          <a:xfrm>
            <a:off x="5074920" y="1600200"/>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k3s (production cluster)</a:t>
            </a:r>
            <a:endParaRPr lang="en-US" sz="1200" dirty="0"/>
          </a:p>
        </p:txBody>
      </p:sp>
      <p:sp>
        <p:nvSpPr>
          <p:cNvPr id="17" name="Text 15"/>
          <p:cNvSpPr/>
          <p:nvPr/>
        </p:nvSpPr>
        <p:spPr>
          <a:xfrm>
            <a:off x="5074920" y="2075688"/>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ArgoCD</a:t>
            </a:r>
            <a:endParaRPr lang="en-US" sz="1200" dirty="0"/>
          </a:p>
        </p:txBody>
      </p:sp>
      <p:sp>
        <p:nvSpPr>
          <p:cNvPr id="18" name="Text 16"/>
          <p:cNvSpPr/>
          <p:nvPr/>
        </p:nvSpPr>
        <p:spPr>
          <a:xfrm>
            <a:off x="5074920" y="2551176"/>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Prometheus + Grafana</a:t>
            </a:r>
            <a:endParaRPr lang="en-US" sz="1200" dirty="0"/>
          </a:p>
        </p:txBody>
      </p:sp>
      <p:sp>
        <p:nvSpPr>
          <p:cNvPr id="19" name="Text 17"/>
          <p:cNvSpPr/>
          <p:nvPr/>
        </p:nvSpPr>
        <p:spPr>
          <a:xfrm>
            <a:off x="5074920" y="3026664"/>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Alertmanager</a:t>
            </a:r>
            <a:endParaRPr lang="en-US" sz="1200" dirty="0"/>
          </a:p>
        </p:txBody>
      </p:sp>
      <p:sp>
        <p:nvSpPr>
          <p:cNvPr id="20" name="Text 18"/>
          <p:cNvSpPr/>
          <p:nvPr/>
        </p:nvSpPr>
        <p:spPr>
          <a:xfrm>
            <a:off x="5074920" y="3502152"/>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Traefik ingress</a:t>
            </a:r>
            <a:endParaRPr lang="en-US" sz="1200" dirty="0"/>
          </a:p>
        </p:txBody>
      </p:sp>
      <p:sp>
        <p:nvSpPr>
          <p:cNvPr id="21" name="Text 19"/>
          <p:cNvSpPr/>
          <p:nvPr/>
        </p:nvSpPr>
        <p:spPr>
          <a:xfrm>
            <a:off x="5074920" y="3977640"/>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Node Exporter</a:t>
            </a:r>
            <a:endParaRPr lang="en-US" sz="1200" dirty="0"/>
          </a:p>
        </p:txBody>
      </p:sp>
      <p:sp>
        <p:nvSpPr>
          <p:cNvPr id="22" name="Shape 20"/>
          <p:cNvSpPr/>
          <p:nvPr/>
        </p:nvSpPr>
        <p:spPr>
          <a:xfrm>
            <a:off x="4315968" y="2697480"/>
            <a:ext cx="512064" cy="54864"/>
          </a:xfrm>
          <a:prstGeom prst="rect">
            <a:avLst/>
          </a:prstGeom>
          <a:solidFill>
            <a:srgbClr val="FFD166"/>
          </a:solidFill>
          <a:ln w="12700">
            <a:solidFill>
              <a:srgbClr val="FFD166"/>
            </a:solidFill>
            <a:prstDash val="solid"/>
          </a:ln>
        </p:spPr>
      </p:sp>
      <p:sp>
        <p:nvSpPr>
          <p:cNvPr id="23" name="Text 21"/>
          <p:cNvSpPr/>
          <p:nvPr/>
        </p:nvSpPr>
        <p:spPr>
          <a:xfrm>
            <a:off x="4251960" y="2834640"/>
            <a:ext cx="640080" cy="457200"/>
          </a:xfrm>
          <a:prstGeom prst="rect">
            <a:avLst/>
          </a:prstGeom>
          <a:noFill/>
          <a:ln/>
        </p:spPr>
        <p:txBody>
          <a:bodyPr wrap="square" lIns="0" tIns="0" rIns="0" bIns="0" rtlCol="0" anchor="ctr"/>
          <a:lstStyle/>
          <a:p>
            <a:pPr algn="ctr" indent="0" marL="0">
              <a:buNone/>
            </a:pPr>
            <a:r>
              <a:rPr lang="en-US" sz="900" dirty="0">
                <a:solidFill>
                  <a:srgbClr val="FFD166"/>
                </a:solidFill>
                <a:latin typeface="Calibri" pitchFamily="34" charset="0"/>
                <a:ea typeface="Calibri" pitchFamily="34" charset="-122"/>
                <a:cs typeface="Calibri" pitchFamily="34" charset="-120"/>
              </a:rPr>
              <a:t>SSH</a:t>
            </a:r>
            <a:endParaRPr lang="en-US" sz="900" dirty="0"/>
          </a:p>
          <a:p>
            <a:pPr algn="ctr" indent="0" marL="0">
              <a:buNone/>
            </a:pPr>
            <a:r>
              <a:rPr lang="en-US" sz="900" dirty="0">
                <a:solidFill>
                  <a:srgbClr val="FFD166"/>
                </a:solidFill>
                <a:latin typeface="Calibri" pitchFamily="34" charset="0"/>
                <a:ea typeface="Calibri" pitchFamily="34" charset="-122"/>
                <a:cs typeface="Calibri" pitchFamily="34" charset="-120"/>
              </a:rPr>
              <a:t>Git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Monitoring Stack</a:t>
            </a:r>
            <a:endParaRPr lang="en-US" sz="2600" dirty="0"/>
          </a:p>
        </p:txBody>
      </p:sp>
      <p:sp>
        <p:nvSpPr>
          <p:cNvPr id="4" name="Shape 2"/>
          <p:cNvSpPr/>
          <p:nvPr/>
        </p:nvSpPr>
        <p:spPr>
          <a:xfrm>
            <a:off x="274320" y="1005840"/>
            <a:ext cx="4114800" cy="1691640"/>
          </a:xfrm>
          <a:prstGeom prst="rect">
            <a:avLst/>
          </a:prstGeom>
          <a:solidFill>
            <a:srgbClr val="FFFFFF"/>
          </a:solidFill>
          <a:ln w="25400">
            <a:solidFill>
              <a:srgbClr val="EF476F"/>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1005840"/>
            <a:ext cx="4114800" cy="438912"/>
          </a:xfrm>
          <a:prstGeom prst="rect">
            <a:avLst/>
          </a:prstGeom>
          <a:solidFill>
            <a:srgbClr val="EF476F"/>
          </a:solidFill>
          <a:ln w="12700">
            <a:solidFill>
              <a:srgbClr val="EF476F"/>
            </a:solidFill>
            <a:prstDash val="solid"/>
          </a:ln>
        </p:spPr>
      </p:sp>
      <p:sp>
        <p:nvSpPr>
          <p:cNvPr id="6" name="Text 4"/>
          <p:cNvSpPr/>
          <p:nvPr/>
        </p:nvSpPr>
        <p:spPr>
          <a:xfrm>
            <a:off x="411480" y="1005840"/>
            <a:ext cx="38404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Prometheus  —  Metrics Collection</a:t>
            </a:r>
            <a:endParaRPr lang="en-US" sz="1300" dirty="0"/>
          </a:p>
        </p:txBody>
      </p:sp>
      <p:sp>
        <p:nvSpPr>
          <p:cNvPr id="7" name="Text 5"/>
          <p:cNvSpPr/>
          <p:nvPr/>
        </p:nvSpPr>
        <p:spPr>
          <a:xfrm>
            <a:off x="411480" y="1536192"/>
            <a:ext cx="3840480" cy="100584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Scrapes metrics from k3s nodes, pods, and services every 30s. Stores time-series data.</a:t>
            </a:r>
            <a:endParaRPr lang="en-US" sz="1150" dirty="0"/>
          </a:p>
        </p:txBody>
      </p:sp>
      <p:sp>
        <p:nvSpPr>
          <p:cNvPr id="8" name="Shape 6"/>
          <p:cNvSpPr/>
          <p:nvPr/>
        </p:nvSpPr>
        <p:spPr>
          <a:xfrm>
            <a:off x="4754880" y="1005840"/>
            <a:ext cx="4114800" cy="1691640"/>
          </a:xfrm>
          <a:prstGeom prst="rect">
            <a:avLst/>
          </a:prstGeom>
          <a:solidFill>
            <a:srgbClr val="FFFFFF"/>
          </a:solidFill>
          <a:ln w="25400">
            <a:solidFill>
              <a:srgbClr val="FFD166"/>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754880" y="1005840"/>
            <a:ext cx="4114800" cy="438912"/>
          </a:xfrm>
          <a:prstGeom prst="rect">
            <a:avLst/>
          </a:prstGeom>
          <a:solidFill>
            <a:srgbClr val="FFD166"/>
          </a:solidFill>
          <a:ln w="12700">
            <a:solidFill>
              <a:srgbClr val="FFD166"/>
            </a:solidFill>
            <a:prstDash val="solid"/>
          </a:ln>
        </p:spPr>
      </p:sp>
      <p:sp>
        <p:nvSpPr>
          <p:cNvPr id="10" name="Text 8"/>
          <p:cNvSpPr/>
          <p:nvPr/>
        </p:nvSpPr>
        <p:spPr>
          <a:xfrm>
            <a:off x="4892040" y="1005840"/>
            <a:ext cx="38404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Grafana  —  Visualization</a:t>
            </a:r>
            <a:endParaRPr lang="en-US" sz="1300" dirty="0"/>
          </a:p>
        </p:txBody>
      </p:sp>
      <p:sp>
        <p:nvSpPr>
          <p:cNvPr id="11" name="Text 9"/>
          <p:cNvSpPr/>
          <p:nvPr/>
        </p:nvSpPr>
        <p:spPr>
          <a:xfrm>
            <a:off x="4892040" y="1536192"/>
            <a:ext cx="3840480" cy="100584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Dashboards accessible at http://10.93.107.240:3000. Pre-built k8s dashboards included.</a:t>
            </a:r>
            <a:endParaRPr lang="en-US" sz="1150" dirty="0"/>
          </a:p>
        </p:txBody>
      </p:sp>
      <p:sp>
        <p:nvSpPr>
          <p:cNvPr id="12" name="Shape 10"/>
          <p:cNvSpPr/>
          <p:nvPr/>
        </p:nvSpPr>
        <p:spPr>
          <a:xfrm>
            <a:off x="274320" y="2926080"/>
            <a:ext cx="4114800" cy="1691640"/>
          </a:xfrm>
          <a:prstGeom prst="rect">
            <a:avLst/>
          </a:prstGeom>
          <a:solidFill>
            <a:srgbClr val="FFFFFF"/>
          </a:solidFill>
          <a:ln w="25400">
            <a:solidFill>
              <a:srgbClr val="00C48C"/>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2926080"/>
            <a:ext cx="4114800" cy="438912"/>
          </a:xfrm>
          <a:prstGeom prst="rect">
            <a:avLst/>
          </a:prstGeom>
          <a:solidFill>
            <a:srgbClr val="00C48C"/>
          </a:solidFill>
          <a:ln w="12700">
            <a:solidFill>
              <a:srgbClr val="00C48C"/>
            </a:solidFill>
            <a:prstDash val="solid"/>
          </a:ln>
        </p:spPr>
      </p:sp>
      <p:sp>
        <p:nvSpPr>
          <p:cNvPr id="14" name="Text 12"/>
          <p:cNvSpPr/>
          <p:nvPr/>
        </p:nvSpPr>
        <p:spPr>
          <a:xfrm>
            <a:off x="411480" y="2926080"/>
            <a:ext cx="38404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Alertmanager  —  Alerting</a:t>
            </a:r>
            <a:endParaRPr lang="en-US" sz="1300" dirty="0"/>
          </a:p>
        </p:txBody>
      </p:sp>
      <p:sp>
        <p:nvSpPr>
          <p:cNvPr id="15" name="Text 13"/>
          <p:cNvSpPr/>
          <p:nvPr/>
        </p:nvSpPr>
        <p:spPr>
          <a:xfrm>
            <a:off x="411480" y="3456432"/>
            <a:ext cx="3840480" cy="100584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Receives alerts from Prometheus and routes notifications. Configured for cluster health alerts.</a:t>
            </a:r>
            <a:endParaRPr lang="en-US" sz="1150" dirty="0"/>
          </a:p>
        </p:txBody>
      </p:sp>
      <p:sp>
        <p:nvSpPr>
          <p:cNvPr id="16" name="Shape 14"/>
          <p:cNvSpPr/>
          <p:nvPr/>
        </p:nvSpPr>
        <p:spPr>
          <a:xfrm>
            <a:off x="4754880" y="2926080"/>
            <a:ext cx="4114800" cy="1691640"/>
          </a:xfrm>
          <a:prstGeom prst="rect">
            <a:avLst/>
          </a:prstGeom>
          <a:solidFill>
            <a:srgbClr val="FFFFFF"/>
          </a:solidFill>
          <a:ln w="25400">
            <a:solidFill>
              <a:srgbClr val="00B4D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754880" y="2926080"/>
            <a:ext cx="4114800" cy="438912"/>
          </a:xfrm>
          <a:prstGeom prst="rect">
            <a:avLst/>
          </a:prstGeom>
          <a:solidFill>
            <a:srgbClr val="00B4D8"/>
          </a:solidFill>
          <a:ln w="12700">
            <a:solidFill>
              <a:srgbClr val="00B4D8"/>
            </a:solidFill>
            <a:prstDash val="solid"/>
          </a:ln>
        </p:spPr>
      </p:sp>
      <p:sp>
        <p:nvSpPr>
          <p:cNvPr id="18" name="Text 16"/>
          <p:cNvSpPr/>
          <p:nvPr/>
        </p:nvSpPr>
        <p:spPr>
          <a:xfrm>
            <a:off x="4892040" y="2926080"/>
            <a:ext cx="38404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Node Exporter  —  System Metrics</a:t>
            </a:r>
            <a:endParaRPr lang="en-US" sz="1300" dirty="0"/>
          </a:p>
        </p:txBody>
      </p:sp>
      <p:sp>
        <p:nvSpPr>
          <p:cNvPr id="19" name="Text 17"/>
          <p:cNvSpPr/>
          <p:nvPr/>
        </p:nvSpPr>
        <p:spPr>
          <a:xfrm>
            <a:off x="4892040" y="3456432"/>
            <a:ext cx="3840480" cy="100584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Exposes hardware and OS metrics from the Ubuntu VM — CPU, memory, disk, network.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C7293"/>
          </a:solidFill>
          <a:ln w="12700">
            <a:solidFill>
              <a:srgbClr val="1C7293"/>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Pre-Demo Health Check</a:t>
            </a:r>
            <a:endParaRPr lang="en-US" sz="2600" dirty="0"/>
          </a:p>
        </p:txBody>
      </p:sp>
      <p:sp>
        <p:nvSpPr>
          <p:cNvPr id="4" name="Text 2"/>
          <p:cNvSpPr/>
          <p:nvPr/>
        </p:nvSpPr>
        <p:spPr>
          <a:xfrm>
            <a:off x="365760" y="960120"/>
            <a:ext cx="4572000" cy="365760"/>
          </a:xfrm>
          <a:prstGeom prst="rect">
            <a:avLst/>
          </a:prstGeom>
          <a:noFill/>
          <a:ln/>
        </p:spPr>
        <p:txBody>
          <a:bodyPr wrap="square" lIns="0" tIns="0" rIns="0" bIns="0" rtlCol="0" anchor="ctr"/>
          <a:lstStyle/>
          <a:p>
            <a:pPr indent="0" marL="0">
              <a:buNone/>
            </a:pPr>
            <a:r>
              <a:rPr lang="en-US" sz="1400" dirty="0">
                <a:solidFill>
                  <a:srgbClr val="8EAFC2"/>
                </a:solidFill>
                <a:latin typeface="Calibri" pitchFamily="34" charset="0"/>
                <a:ea typeface="Calibri" pitchFamily="34" charset="-122"/>
                <a:cs typeface="Calibri" pitchFamily="34" charset="-120"/>
              </a:rPr>
              <a:t>Run before every demo:</a:t>
            </a:r>
            <a:endParaRPr lang="en-US" sz="1400" dirty="0"/>
          </a:p>
        </p:txBody>
      </p:sp>
      <p:sp>
        <p:nvSpPr>
          <p:cNvPr id="5" name="Shape 3"/>
          <p:cNvSpPr/>
          <p:nvPr/>
        </p:nvSpPr>
        <p:spPr>
          <a:xfrm>
            <a:off x="274320" y="1371600"/>
            <a:ext cx="4114800" cy="548640"/>
          </a:xfrm>
          <a:prstGeom prst="rect">
            <a:avLst/>
          </a:prstGeom>
          <a:solidFill>
            <a:srgbClr val="0A1628"/>
          </a:solidFill>
          <a:ln w="12700">
            <a:solidFill>
              <a:srgbClr val="00B4D8"/>
            </a:solidFill>
            <a:prstDash val="solid"/>
          </a:ln>
        </p:spPr>
      </p:sp>
      <p:sp>
        <p:nvSpPr>
          <p:cNvPr id="6" name="Text 4"/>
          <p:cNvSpPr/>
          <p:nvPr/>
        </p:nvSpPr>
        <p:spPr>
          <a:xfrm>
            <a:off x="274320" y="1371600"/>
            <a:ext cx="4114800" cy="548640"/>
          </a:xfrm>
          <a:prstGeom prst="rect">
            <a:avLst/>
          </a:prstGeom>
          <a:noFill/>
          <a:ln/>
        </p:spPr>
        <p:txBody>
          <a:bodyPr wrap="square" lIns="0" tIns="0" rIns="0" bIns="0" rtlCol="0" anchor="ctr"/>
          <a:lstStyle/>
          <a:p>
            <a:pPr algn="ctr" indent="0" marL="0">
              <a:buNone/>
            </a:pPr>
            <a:r>
              <a:rPr lang="en-US" sz="1600" b="1" dirty="0">
                <a:solidFill>
                  <a:srgbClr val="00B4D8"/>
                </a:solidFill>
                <a:latin typeface="Consolas" pitchFamily="34" charset="0"/>
                <a:ea typeface="Consolas" pitchFamily="34" charset="-122"/>
                <a:cs typeface="Consolas" pitchFamily="34" charset="-120"/>
              </a:rPr>
              <a:t>.\health-check.ps1</a:t>
            </a:r>
            <a:endParaRPr lang="en-US" sz="1600" dirty="0"/>
          </a:p>
        </p:txBody>
      </p:sp>
      <p:sp>
        <p:nvSpPr>
          <p:cNvPr id="7" name="Shape 5"/>
          <p:cNvSpPr/>
          <p:nvPr/>
        </p:nvSpPr>
        <p:spPr>
          <a:xfrm>
            <a:off x="274320" y="2221992"/>
            <a:ext cx="201168" cy="201168"/>
          </a:xfrm>
          <a:prstGeom prst="ellipse">
            <a:avLst/>
          </a:prstGeom>
          <a:solidFill>
            <a:srgbClr val="00C48C"/>
          </a:solidFill>
          <a:ln w="12700">
            <a:solidFill>
              <a:srgbClr val="00C48C"/>
            </a:solidFill>
            <a:prstDash val="solid"/>
          </a:ln>
        </p:spPr>
      </p:sp>
      <p:sp>
        <p:nvSpPr>
          <p:cNvPr id="8" name="Text 6"/>
          <p:cNvSpPr/>
          <p:nvPr/>
        </p:nvSpPr>
        <p:spPr>
          <a:xfrm>
            <a:off x="548640" y="2148840"/>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 Local Tools — Docker, kubectl, kind, git</a:t>
            </a:r>
            <a:endParaRPr lang="en-US" sz="1050" dirty="0"/>
          </a:p>
        </p:txBody>
      </p:sp>
      <p:sp>
        <p:nvSpPr>
          <p:cNvPr id="9" name="Shape 7"/>
          <p:cNvSpPr/>
          <p:nvPr/>
        </p:nvSpPr>
        <p:spPr>
          <a:xfrm>
            <a:off x="4617720" y="2221992"/>
            <a:ext cx="201168" cy="201168"/>
          </a:xfrm>
          <a:prstGeom prst="ellipse">
            <a:avLst/>
          </a:prstGeom>
          <a:solidFill>
            <a:srgbClr val="00C48C"/>
          </a:solidFill>
          <a:ln w="12700">
            <a:solidFill>
              <a:srgbClr val="00C48C"/>
            </a:solidFill>
            <a:prstDash val="solid"/>
          </a:ln>
        </p:spPr>
      </p:sp>
      <p:sp>
        <p:nvSpPr>
          <p:cNvPr id="10" name="Text 8"/>
          <p:cNvSpPr/>
          <p:nvPr/>
        </p:nvSpPr>
        <p:spPr>
          <a:xfrm>
            <a:off x="4892040" y="2148840"/>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2. Kind Clusters — dev-cluster, staging-cluster</a:t>
            </a:r>
            <a:endParaRPr lang="en-US" sz="1050" dirty="0"/>
          </a:p>
        </p:txBody>
      </p:sp>
      <p:sp>
        <p:nvSpPr>
          <p:cNvPr id="11" name="Shape 9"/>
          <p:cNvSpPr/>
          <p:nvPr/>
        </p:nvSpPr>
        <p:spPr>
          <a:xfrm>
            <a:off x="274320" y="2734056"/>
            <a:ext cx="201168" cy="201168"/>
          </a:xfrm>
          <a:prstGeom prst="ellipse">
            <a:avLst/>
          </a:prstGeom>
          <a:solidFill>
            <a:srgbClr val="00C48C"/>
          </a:solidFill>
          <a:ln w="12700">
            <a:solidFill>
              <a:srgbClr val="00C48C"/>
            </a:solidFill>
            <a:prstDash val="solid"/>
          </a:ln>
        </p:spPr>
      </p:sp>
      <p:sp>
        <p:nvSpPr>
          <p:cNvPr id="12" name="Text 10"/>
          <p:cNvSpPr/>
          <p:nvPr/>
        </p:nvSpPr>
        <p:spPr>
          <a:xfrm>
            <a:off x="548640" y="2660904"/>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 K8s Pods — my-web-app-dev, my-web-app-staging</a:t>
            </a:r>
            <a:endParaRPr lang="en-US" sz="1050" dirty="0"/>
          </a:p>
        </p:txBody>
      </p:sp>
      <p:sp>
        <p:nvSpPr>
          <p:cNvPr id="13" name="Shape 11"/>
          <p:cNvSpPr/>
          <p:nvPr/>
        </p:nvSpPr>
        <p:spPr>
          <a:xfrm>
            <a:off x="4617720" y="2734056"/>
            <a:ext cx="201168" cy="201168"/>
          </a:xfrm>
          <a:prstGeom prst="ellipse">
            <a:avLst/>
          </a:prstGeom>
          <a:solidFill>
            <a:srgbClr val="00C48C"/>
          </a:solidFill>
          <a:ln w="12700">
            <a:solidFill>
              <a:srgbClr val="00C48C"/>
            </a:solidFill>
            <a:prstDash val="solid"/>
          </a:ln>
        </p:spPr>
      </p:sp>
      <p:sp>
        <p:nvSpPr>
          <p:cNvPr id="14" name="Text 12"/>
          <p:cNvSpPr/>
          <p:nvPr/>
        </p:nvSpPr>
        <p:spPr>
          <a:xfrm>
            <a:off x="4892040" y="2660904"/>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4. Docker Images — :dev and :staging tags</a:t>
            </a:r>
            <a:endParaRPr lang="en-US" sz="1050" dirty="0"/>
          </a:p>
        </p:txBody>
      </p:sp>
      <p:sp>
        <p:nvSpPr>
          <p:cNvPr id="15" name="Shape 13"/>
          <p:cNvSpPr/>
          <p:nvPr/>
        </p:nvSpPr>
        <p:spPr>
          <a:xfrm>
            <a:off x="274320" y="3246120"/>
            <a:ext cx="201168" cy="201168"/>
          </a:xfrm>
          <a:prstGeom prst="ellipse">
            <a:avLst/>
          </a:prstGeom>
          <a:solidFill>
            <a:srgbClr val="00C48C"/>
          </a:solidFill>
          <a:ln w="12700">
            <a:solidFill>
              <a:srgbClr val="00C48C"/>
            </a:solidFill>
            <a:prstDash val="solid"/>
          </a:ln>
        </p:spPr>
      </p:sp>
      <p:sp>
        <p:nvSpPr>
          <p:cNvPr id="16" name="Text 14"/>
          <p:cNvSpPr/>
          <p:nvPr/>
        </p:nvSpPr>
        <p:spPr>
          <a:xfrm>
            <a:off x="548640" y="3172968"/>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5. Docker Hub — Login verification</a:t>
            </a:r>
            <a:endParaRPr lang="en-US" sz="1050" dirty="0"/>
          </a:p>
        </p:txBody>
      </p:sp>
      <p:sp>
        <p:nvSpPr>
          <p:cNvPr id="17" name="Shape 15"/>
          <p:cNvSpPr/>
          <p:nvPr/>
        </p:nvSpPr>
        <p:spPr>
          <a:xfrm>
            <a:off x="4617720" y="3246120"/>
            <a:ext cx="201168" cy="201168"/>
          </a:xfrm>
          <a:prstGeom prst="ellipse">
            <a:avLst/>
          </a:prstGeom>
          <a:solidFill>
            <a:srgbClr val="00C48C"/>
          </a:solidFill>
          <a:ln w="12700">
            <a:solidFill>
              <a:srgbClr val="00C48C"/>
            </a:solidFill>
            <a:prstDash val="solid"/>
          </a:ln>
        </p:spPr>
      </p:sp>
      <p:sp>
        <p:nvSpPr>
          <p:cNvPr id="18" name="Text 16"/>
          <p:cNvSpPr/>
          <p:nvPr/>
        </p:nvSpPr>
        <p:spPr>
          <a:xfrm>
            <a:off x="4892040" y="3172968"/>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6. Git Repository — Branches, clean working tree</a:t>
            </a:r>
            <a:endParaRPr lang="en-US" sz="1050" dirty="0"/>
          </a:p>
        </p:txBody>
      </p:sp>
      <p:sp>
        <p:nvSpPr>
          <p:cNvPr id="19" name="Shape 17"/>
          <p:cNvSpPr/>
          <p:nvPr/>
        </p:nvSpPr>
        <p:spPr>
          <a:xfrm>
            <a:off x="274320" y="3758184"/>
            <a:ext cx="201168" cy="201168"/>
          </a:xfrm>
          <a:prstGeom prst="ellipse">
            <a:avLst/>
          </a:prstGeom>
          <a:solidFill>
            <a:srgbClr val="00C48C"/>
          </a:solidFill>
          <a:ln w="12700">
            <a:solidFill>
              <a:srgbClr val="00C48C"/>
            </a:solidFill>
            <a:prstDash val="solid"/>
          </a:ln>
        </p:spPr>
      </p:sp>
      <p:sp>
        <p:nvSpPr>
          <p:cNvPr id="20" name="Text 18"/>
          <p:cNvSpPr/>
          <p:nvPr/>
        </p:nvSpPr>
        <p:spPr>
          <a:xfrm>
            <a:off x="548640" y="3685032"/>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7. Ubuntu VM — Ping + SSH connectivity</a:t>
            </a:r>
            <a:endParaRPr lang="en-US" sz="1050" dirty="0"/>
          </a:p>
        </p:txBody>
      </p:sp>
      <p:sp>
        <p:nvSpPr>
          <p:cNvPr id="21" name="Shape 19"/>
          <p:cNvSpPr/>
          <p:nvPr/>
        </p:nvSpPr>
        <p:spPr>
          <a:xfrm>
            <a:off x="4617720" y="3758184"/>
            <a:ext cx="201168" cy="201168"/>
          </a:xfrm>
          <a:prstGeom prst="ellipse">
            <a:avLst/>
          </a:prstGeom>
          <a:solidFill>
            <a:srgbClr val="00C48C"/>
          </a:solidFill>
          <a:ln w="12700">
            <a:solidFill>
              <a:srgbClr val="00C48C"/>
            </a:solidFill>
            <a:prstDash val="solid"/>
          </a:ln>
        </p:spPr>
      </p:sp>
      <p:sp>
        <p:nvSpPr>
          <p:cNvPr id="22" name="Text 20"/>
          <p:cNvSpPr/>
          <p:nvPr/>
        </p:nvSpPr>
        <p:spPr>
          <a:xfrm>
            <a:off x="4892040" y="3685032"/>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8. ArgoCD &amp; Monitoring — Sync status, all pods running</a:t>
            </a:r>
            <a:endParaRPr lang="en-US" sz="1050" dirty="0"/>
          </a:p>
        </p:txBody>
      </p:sp>
      <p:sp>
        <p:nvSpPr>
          <p:cNvPr id="23" name="Shape 21"/>
          <p:cNvSpPr/>
          <p:nvPr/>
        </p:nvSpPr>
        <p:spPr>
          <a:xfrm>
            <a:off x="274320" y="4270248"/>
            <a:ext cx="201168" cy="201168"/>
          </a:xfrm>
          <a:prstGeom prst="ellipse">
            <a:avLst/>
          </a:prstGeom>
          <a:solidFill>
            <a:srgbClr val="00C48C"/>
          </a:solidFill>
          <a:ln w="12700">
            <a:solidFill>
              <a:srgbClr val="00C48C"/>
            </a:solidFill>
            <a:prstDash val="solid"/>
          </a:ln>
        </p:spPr>
      </p:sp>
      <p:sp>
        <p:nvSpPr>
          <p:cNvPr id="24" name="Text 22"/>
          <p:cNvSpPr/>
          <p:nvPr/>
        </p:nvSpPr>
        <p:spPr>
          <a:xfrm>
            <a:off x="548640" y="4197096"/>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9. Grafana — HTTP health check port 3000</a:t>
            </a:r>
            <a:endParaRPr lang="en-US" sz="1050" dirty="0"/>
          </a:p>
        </p:txBody>
      </p:sp>
      <p:sp>
        <p:nvSpPr>
          <p:cNvPr id="25" name="Shape 23"/>
          <p:cNvSpPr/>
          <p:nvPr/>
        </p:nvSpPr>
        <p:spPr>
          <a:xfrm>
            <a:off x="4617720" y="4270248"/>
            <a:ext cx="201168" cy="201168"/>
          </a:xfrm>
          <a:prstGeom prst="ellipse">
            <a:avLst/>
          </a:prstGeom>
          <a:solidFill>
            <a:srgbClr val="00C48C"/>
          </a:solidFill>
          <a:ln w="12700">
            <a:solidFill>
              <a:srgbClr val="00C48C"/>
            </a:solidFill>
            <a:prstDash val="solid"/>
          </a:ln>
        </p:spPr>
      </p:sp>
      <p:sp>
        <p:nvSpPr>
          <p:cNvPr id="26" name="Text 24"/>
          <p:cNvSpPr/>
          <p:nvPr/>
        </p:nvSpPr>
        <p:spPr>
          <a:xfrm>
            <a:off x="4892040" y="4197096"/>
            <a:ext cx="3931920" cy="4114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10. Required Files — Dockerfile, manifests, CI config</a:t>
            </a:r>
            <a:endParaRPr lang="en-US" sz="1050" dirty="0"/>
          </a:p>
        </p:txBody>
      </p:sp>
      <p:sp>
        <p:nvSpPr>
          <p:cNvPr id="27" name="Shape 25"/>
          <p:cNvSpPr/>
          <p:nvPr/>
        </p:nvSpPr>
        <p:spPr>
          <a:xfrm>
            <a:off x="274320" y="4663440"/>
            <a:ext cx="8595360" cy="347472"/>
          </a:xfrm>
          <a:prstGeom prst="rect">
            <a:avLst/>
          </a:prstGeom>
          <a:solidFill>
            <a:srgbClr val="00C48C">
              <a:alpha val="80000"/>
            </a:srgbClr>
          </a:solidFill>
          <a:ln w="12700">
            <a:solidFill>
              <a:srgbClr val="00C48C"/>
            </a:solidFill>
            <a:prstDash val="solid"/>
          </a:ln>
        </p:spPr>
      </p:sp>
      <p:sp>
        <p:nvSpPr>
          <p:cNvPr id="28" name="Text 26"/>
          <p:cNvSpPr/>
          <p:nvPr/>
        </p:nvSpPr>
        <p:spPr>
          <a:xfrm>
            <a:off x="274320" y="4663440"/>
            <a:ext cx="85953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Expected: 37 PASSED — 0 WARNED — 0 FAILED  →  ALL CHECKS PASSED - You are ready to demo!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Lessons Learned &amp; Next Steps</a:t>
            </a:r>
            <a:endParaRPr lang="en-US" sz="2600" dirty="0"/>
          </a:p>
        </p:txBody>
      </p:sp>
      <p:sp>
        <p:nvSpPr>
          <p:cNvPr id="4" name="Shape 2"/>
          <p:cNvSpPr/>
          <p:nvPr/>
        </p:nvSpPr>
        <p:spPr>
          <a:xfrm>
            <a:off x="274320" y="960120"/>
            <a:ext cx="4114800" cy="3840480"/>
          </a:xfrm>
          <a:prstGeom prst="rect">
            <a:avLst/>
          </a:prstGeom>
          <a:solidFill>
            <a:srgbClr val="FFFFFF"/>
          </a:solidFill>
          <a:ln w="25400">
            <a:solidFill>
              <a:srgbClr val="065A82"/>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960120"/>
            <a:ext cx="4114800" cy="457200"/>
          </a:xfrm>
          <a:prstGeom prst="rect">
            <a:avLst/>
          </a:prstGeom>
          <a:solidFill>
            <a:srgbClr val="065A82"/>
          </a:solidFill>
          <a:ln w="12700">
            <a:solidFill>
              <a:srgbClr val="065A82"/>
            </a:solidFill>
            <a:prstDash val="solid"/>
          </a:ln>
        </p:spPr>
      </p:sp>
      <p:sp>
        <p:nvSpPr>
          <p:cNvPr id="6" name="Text 4"/>
          <p:cNvSpPr/>
          <p:nvPr/>
        </p:nvSpPr>
        <p:spPr>
          <a:xfrm>
            <a:off x="274320" y="960120"/>
            <a:ext cx="4114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Lessons Learned</a:t>
            </a:r>
            <a:endParaRPr lang="en-US" sz="1400" dirty="0"/>
          </a:p>
        </p:txBody>
      </p:sp>
      <p:sp>
        <p:nvSpPr>
          <p:cNvPr id="7" name="Shape 5"/>
          <p:cNvSpPr/>
          <p:nvPr/>
        </p:nvSpPr>
        <p:spPr>
          <a:xfrm>
            <a:off x="411480" y="1554480"/>
            <a:ext cx="201168" cy="201168"/>
          </a:xfrm>
          <a:prstGeom prst="rect">
            <a:avLst/>
          </a:prstGeom>
          <a:solidFill>
            <a:srgbClr val="FFD166"/>
          </a:solidFill>
          <a:ln w="12700">
            <a:solidFill>
              <a:srgbClr val="FFD166"/>
            </a:solidFill>
            <a:prstDash val="solid"/>
          </a:ln>
        </p:spPr>
      </p:sp>
      <p:sp>
        <p:nvSpPr>
          <p:cNvPr id="8" name="Text 6"/>
          <p:cNvSpPr/>
          <p:nvPr/>
        </p:nvSpPr>
        <p:spPr>
          <a:xfrm>
            <a:off x="685800" y="1527048"/>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Kustomize image name must match exactly</a:t>
            </a:r>
            <a:endParaRPr lang="en-US" sz="1100" dirty="0"/>
          </a:p>
        </p:txBody>
      </p:sp>
      <p:sp>
        <p:nvSpPr>
          <p:cNvPr id="9" name="Shape 7"/>
          <p:cNvSpPr/>
          <p:nvPr/>
        </p:nvSpPr>
        <p:spPr>
          <a:xfrm>
            <a:off x="411480" y="2029968"/>
            <a:ext cx="201168" cy="201168"/>
          </a:xfrm>
          <a:prstGeom prst="rect">
            <a:avLst/>
          </a:prstGeom>
          <a:solidFill>
            <a:srgbClr val="FFD166"/>
          </a:solidFill>
          <a:ln w="12700">
            <a:solidFill>
              <a:srgbClr val="FFD166"/>
            </a:solidFill>
            <a:prstDash val="solid"/>
          </a:ln>
        </p:spPr>
      </p:sp>
      <p:sp>
        <p:nvSpPr>
          <p:cNvPr id="10" name="Text 8"/>
          <p:cNvSpPr/>
          <p:nvPr/>
        </p:nvSpPr>
        <p:spPr>
          <a:xfrm>
            <a:off x="685800" y="2002536"/>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ArgoCD caches — delete repo-server pod to clear</a:t>
            </a:r>
            <a:endParaRPr lang="en-US" sz="1100" dirty="0"/>
          </a:p>
        </p:txBody>
      </p:sp>
      <p:sp>
        <p:nvSpPr>
          <p:cNvPr id="11" name="Shape 9"/>
          <p:cNvSpPr/>
          <p:nvPr/>
        </p:nvSpPr>
        <p:spPr>
          <a:xfrm>
            <a:off x="411480" y="2505456"/>
            <a:ext cx="201168" cy="201168"/>
          </a:xfrm>
          <a:prstGeom prst="rect">
            <a:avLst/>
          </a:prstGeom>
          <a:solidFill>
            <a:srgbClr val="FFD166"/>
          </a:solidFill>
          <a:ln w="12700">
            <a:solidFill>
              <a:srgbClr val="FFD166"/>
            </a:solidFill>
            <a:prstDash val="solid"/>
          </a:ln>
        </p:spPr>
      </p:sp>
      <p:sp>
        <p:nvSpPr>
          <p:cNvPr id="12" name="Text 10"/>
          <p:cNvSpPr/>
          <p:nvPr/>
        </p:nvSpPr>
        <p:spPr>
          <a:xfrm>
            <a:off x="685800" y="2478024"/>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kubectl port-forward can truncate responses</a:t>
            </a:r>
            <a:endParaRPr lang="en-US" sz="1100" dirty="0"/>
          </a:p>
        </p:txBody>
      </p:sp>
      <p:sp>
        <p:nvSpPr>
          <p:cNvPr id="13" name="Shape 11"/>
          <p:cNvSpPr/>
          <p:nvPr/>
        </p:nvSpPr>
        <p:spPr>
          <a:xfrm>
            <a:off x="411480" y="2980944"/>
            <a:ext cx="201168" cy="201168"/>
          </a:xfrm>
          <a:prstGeom prst="rect">
            <a:avLst/>
          </a:prstGeom>
          <a:solidFill>
            <a:srgbClr val="FFD166"/>
          </a:solidFill>
          <a:ln w="12700">
            <a:solidFill>
              <a:srgbClr val="FFD166"/>
            </a:solidFill>
            <a:prstDash val="solid"/>
          </a:ln>
        </p:spPr>
      </p:sp>
      <p:sp>
        <p:nvSpPr>
          <p:cNvPr id="14" name="Text 12"/>
          <p:cNvSpPr/>
          <p:nvPr/>
        </p:nvSpPr>
        <p:spPr>
          <a:xfrm>
            <a:off x="685800" y="2953512"/>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Use NodePort or Ingress for reliable access</a:t>
            </a:r>
            <a:endParaRPr lang="en-US" sz="1100" dirty="0"/>
          </a:p>
        </p:txBody>
      </p:sp>
      <p:sp>
        <p:nvSpPr>
          <p:cNvPr id="15" name="Shape 13"/>
          <p:cNvSpPr/>
          <p:nvPr/>
        </p:nvSpPr>
        <p:spPr>
          <a:xfrm>
            <a:off x="411480" y="3456432"/>
            <a:ext cx="201168" cy="201168"/>
          </a:xfrm>
          <a:prstGeom prst="rect">
            <a:avLst/>
          </a:prstGeom>
          <a:solidFill>
            <a:srgbClr val="FFD166"/>
          </a:solidFill>
          <a:ln w="12700">
            <a:solidFill>
              <a:srgbClr val="FFD166"/>
            </a:solidFill>
            <a:prstDash val="solid"/>
          </a:ln>
        </p:spPr>
      </p:sp>
      <p:sp>
        <p:nvSpPr>
          <p:cNvPr id="16" name="Text 14"/>
          <p:cNvSpPr/>
          <p:nvPr/>
        </p:nvSpPr>
        <p:spPr>
          <a:xfrm>
            <a:off x="685800" y="3429000"/>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PowerShell escaping breaks YAML — edit on GitHub</a:t>
            </a:r>
            <a:endParaRPr lang="en-US" sz="1100" dirty="0"/>
          </a:p>
        </p:txBody>
      </p:sp>
      <p:sp>
        <p:nvSpPr>
          <p:cNvPr id="17" name="Shape 15"/>
          <p:cNvSpPr/>
          <p:nvPr/>
        </p:nvSpPr>
        <p:spPr>
          <a:xfrm>
            <a:off x="411480" y="3931920"/>
            <a:ext cx="201168" cy="201168"/>
          </a:xfrm>
          <a:prstGeom prst="rect">
            <a:avLst/>
          </a:prstGeom>
          <a:solidFill>
            <a:srgbClr val="FFD166"/>
          </a:solidFill>
          <a:ln w="12700">
            <a:solidFill>
              <a:srgbClr val="FFD166"/>
            </a:solidFill>
            <a:prstDash val="solid"/>
          </a:ln>
        </p:spPr>
      </p:sp>
      <p:sp>
        <p:nvSpPr>
          <p:cNvPr id="18" name="Text 16"/>
          <p:cNvSpPr/>
          <p:nvPr/>
        </p:nvSpPr>
        <p:spPr>
          <a:xfrm>
            <a:off x="685800" y="3904488"/>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Old pods share labels — service load balances to all</a:t>
            </a:r>
            <a:endParaRPr lang="en-US" sz="1100" dirty="0"/>
          </a:p>
        </p:txBody>
      </p:sp>
      <p:sp>
        <p:nvSpPr>
          <p:cNvPr id="19" name="Shape 17"/>
          <p:cNvSpPr/>
          <p:nvPr/>
        </p:nvSpPr>
        <p:spPr>
          <a:xfrm>
            <a:off x="4754880" y="960120"/>
            <a:ext cx="4114800" cy="3840480"/>
          </a:xfrm>
          <a:prstGeom prst="rect">
            <a:avLst/>
          </a:prstGeom>
          <a:solidFill>
            <a:srgbClr val="FFFFFF"/>
          </a:solidFill>
          <a:ln w="25400">
            <a:solidFill>
              <a:srgbClr val="00C48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754880" y="960120"/>
            <a:ext cx="4114800" cy="457200"/>
          </a:xfrm>
          <a:prstGeom prst="rect">
            <a:avLst/>
          </a:prstGeom>
          <a:solidFill>
            <a:srgbClr val="00C48C"/>
          </a:solidFill>
          <a:ln w="12700">
            <a:solidFill>
              <a:srgbClr val="00C48C"/>
            </a:solidFill>
            <a:prstDash val="solid"/>
          </a:ln>
        </p:spPr>
      </p:sp>
      <p:sp>
        <p:nvSpPr>
          <p:cNvPr id="21" name="Text 19"/>
          <p:cNvSpPr/>
          <p:nvPr/>
        </p:nvSpPr>
        <p:spPr>
          <a:xfrm>
            <a:off x="4754880" y="960120"/>
            <a:ext cx="4114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Next Steps</a:t>
            </a:r>
            <a:endParaRPr lang="en-US" sz="1400" dirty="0"/>
          </a:p>
        </p:txBody>
      </p:sp>
      <p:sp>
        <p:nvSpPr>
          <p:cNvPr id="22" name="Shape 20"/>
          <p:cNvSpPr/>
          <p:nvPr/>
        </p:nvSpPr>
        <p:spPr>
          <a:xfrm>
            <a:off x="4892040" y="1554480"/>
            <a:ext cx="201168" cy="201168"/>
          </a:xfrm>
          <a:prstGeom prst="ellipse">
            <a:avLst/>
          </a:prstGeom>
          <a:solidFill>
            <a:srgbClr val="00C48C"/>
          </a:solidFill>
          <a:ln w="12700">
            <a:solidFill>
              <a:srgbClr val="00C48C"/>
            </a:solidFill>
            <a:prstDash val="solid"/>
          </a:ln>
        </p:spPr>
      </p:sp>
      <p:sp>
        <p:nvSpPr>
          <p:cNvPr id="23" name="Text 21"/>
          <p:cNvSpPr/>
          <p:nvPr/>
        </p:nvSpPr>
        <p:spPr>
          <a:xfrm>
            <a:off x="5166360" y="1527048"/>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Terraform: automate full lab provisioning</a:t>
            </a:r>
            <a:endParaRPr lang="en-US" sz="1100" dirty="0"/>
          </a:p>
        </p:txBody>
      </p:sp>
      <p:sp>
        <p:nvSpPr>
          <p:cNvPr id="24" name="Shape 22"/>
          <p:cNvSpPr/>
          <p:nvPr/>
        </p:nvSpPr>
        <p:spPr>
          <a:xfrm>
            <a:off x="4892040" y="2029968"/>
            <a:ext cx="201168" cy="201168"/>
          </a:xfrm>
          <a:prstGeom prst="ellipse">
            <a:avLst/>
          </a:prstGeom>
          <a:solidFill>
            <a:srgbClr val="00C48C"/>
          </a:solidFill>
          <a:ln w="12700">
            <a:solidFill>
              <a:srgbClr val="00C48C"/>
            </a:solidFill>
            <a:prstDash val="solid"/>
          </a:ln>
        </p:spPr>
      </p:sp>
      <p:sp>
        <p:nvSpPr>
          <p:cNvPr id="25" name="Text 23"/>
          <p:cNvSpPr/>
          <p:nvPr/>
        </p:nvSpPr>
        <p:spPr>
          <a:xfrm>
            <a:off x="5166360" y="2002536"/>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Helm charts for complex deployments</a:t>
            </a:r>
            <a:endParaRPr lang="en-US" sz="1100" dirty="0"/>
          </a:p>
        </p:txBody>
      </p:sp>
      <p:sp>
        <p:nvSpPr>
          <p:cNvPr id="26" name="Shape 24"/>
          <p:cNvSpPr/>
          <p:nvPr/>
        </p:nvSpPr>
        <p:spPr>
          <a:xfrm>
            <a:off x="4892040" y="2505456"/>
            <a:ext cx="201168" cy="201168"/>
          </a:xfrm>
          <a:prstGeom prst="ellipse">
            <a:avLst/>
          </a:prstGeom>
          <a:solidFill>
            <a:srgbClr val="00C48C"/>
          </a:solidFill>
          <a:ln w="12700">
            <a:solidFill>
              <a:srgbClr val="00C48C"/>
            </a:solidFill>
            <a:prstDash val="solid"/>
          </a:ln>
        </p:spPr>
      </p:sp>
      <p:sp>
        <p:nvSpPr>
          <p:cNvPr id="27" name="Text 25"/>
          <p:cNvSpPr/>
          <p:nvPr/>
        </p:nvSpPr>
        <p:spPr>
          <a:xfrm>
            <a:off x="5166360" y="2478024"/>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Secrets management with Vault</a:t>
            </a:r>
            <a:endParaRPr lang="en-US" sz="1100" dirty="0"/>
          </a:p>
        </p:txBody>
      </p:sp>
      <p:sp>
        <p:nvSpPr>
          <p:cNvPr id="28" name="Shape 26"/>
          <p:cNvSpPr/>
          <p:nvPr/>
        </p:nvSpPr>
        <p:spPr>
          <a:xfrm>
            <a:off x="4892040" y="2980944"/>
            <a:ext cx="201168" cy="201168"/>
          </a:xfrm>
          <a:prstGeom prst="ellipse">
            <a:avLst/>
          </a:prstGeom>
          <a:solidFill>
            <a:srgbClr val="00C48C"/>
          </a:solidFill>
          <a:ln w="12700">
            <a:solidFill>
              <a:srgbClr val="00C48C"/>
            </a:solidFill>
            <a:prstDash val="solid"/>
          </a:ln>
        </p:spPr>
      </p:sp>
      <p:sp>
        <p:nvSpPr>
          <p:cNvPr id="29" name="Text 27"/>
          <p:cNvSpPr/>
          <p:nvPr/>
        </p:nvSpPr>
        <p:spPr>
          <a:xfrm>
            <a:off x="5166360" y="2953512"/>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Multi-cluster ArgoCD setup</a:t>
            </a:r>
            <a:endParaRPr lang="en-US" sz="1100" dirty="0"/>
          </a:p>
        </p:txBody>
      </p:sp>
      <p:sp>
        <p:nvSpPr>
          <p:cNvPr id="30" name="Shape 28"/>
          <p:cNvSpPr/>
          <p:nvPr/>
        </p:nvSpPr>
        <p:spPr>
          <a:xfrm>
            <a:off x="4892040" y="3456432"/>
            <a:ext cx="201168" cy="201168"/>
          </a:xfrm>
          <a:prstGeom prst="ellipse">
            <a:avLst/>
          </a:prstGeom>
          <a:solidFill>
            <a:srgbClr val="00C48C"/>
          </a:solidFill>
          <a:ln w="12700">
            <a:solidFill>
              <a:srgbClr val="00C48C"/>
            </a:solidFill>
            <a:prstDash val="solid"/>
          </a:ln>
        </p:spPr>
      </p:sp>
      <p:sp>
        <p:nvSpPr>
          <p:cNvPr id="31" name="Text 29"/>
          <p:cNvSpPr/>
          <p:nvPr/>
        </p:nvSpPr>
        <p:spPr>
          <a:xfrm>
            <a:off x="5166360" y="3429000"/>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Automated testing in pipeline</a:t>
            </a:r>
            <a:endParaRPr lang="en-US" sz="1100" dirty="0"/>
          </a:p>
        </p:txBody>
      </p:sp>
      <p:sp>
        <p:nvSpPr>
          <p:cNvPr id="32" name="Shape 30"/>
          <p:cNvSpPr/>
          <p:nvPr/>
        </p:nvSpPr>
        <p:spPr>
          <a:xfrm>
            <a:off x="4892040" y="3931920"/>
            <a:ext cx="201168" cy="201168"/>
          </a:xfrm>
          <a:prstGeom prst="ellipse">
            <a:avLst/>
          </a:prstGeom>
          <a:solidFill>
            <a:srgbClr val="00C48C"/>
          </a:solidFill>
          <a:ln w="12700">
            <a:solidFill>
              <a:srgbClr val="00C48C"/>
            </a:solidFill>
            <a:prstDash val="solid"/>
          </a:ln>
        </p:spPr>
      </p:sp>
      <p:sp>
        <p:nvSpPr>
          <p:cNvPr id="33" name="Text 31"/>
          <p:cNvSpPr/>
          <p:nvPr/>
        </p:nvSpPr>
        <p:spPr>
          <a:xfrm>
            <a:off x="5166360" y="3904488"/>
            <a:ext cx="3566160" cy="36576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Slack/email notifications on deploy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65A82">
              <a:alpha val="25000"/>
            </a:srgbClr>
          </a:solidFill>
          <a:ln w="12700">
            <a:solidFill>
              <a:srgbClr val="065A82">
                <a:alpha val="25000"/>
              </a:srgbClr>
            </a:solidFill>
            <a:prstDash val="solid"/>
          </a:ln>
        </p:spPr>
      </p:sp>
      <p:sp>
        <p:nvSpPr>
          <p:cNvPr id="3" name="Shape 1"/>
          <p:cNvSpPr/>
          <p:nvPr/>
        </p:nvSpPr>
        <p:spPr>
          <a:xfrm>
            <a:off x="6400800" y="2743200"/>
            <a:ext cx="3657600" cy="3657600"/>
          </a:xfrm>
          <a:prstGeom prst="ellipse">
            <a:avLst/>
          </a:prstGeom>
          <a:solidFill>
            <a:srgbClr val="1C7293">
              <a:alpha val="30000"/>
            </a:srgbClr>
          </a:solidFill>
          <a:ln w="12700">
            <a:solidFill>
              <a:srgbClr val="1C7293">
                <a:alpha val="30000"/>
              </a:srgbClr>
            </a:solidFill>
            <a:prstDash val="solid"/>
          </a:ln>
        </p:spPr>
      </p:sp>
      <p:sp>
        <p:nvSpPr>
          <p:cNvPr id="4" name="Text 2"/>
          <p:cNvSpPr/>
          <p:nvPr/>
        </p:nvSpPr>
        <p:spPr>
          <a:xfrm>
            <a:off x="457200" y="1188720"/>
            <a:ext cx="822960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5" name="Text 3"/>
          <p:cNvSpPr/>
          <p:nvPr/>
        </p:nvSpPr>
        <p:spPr>
          <a:xfrm>
            <a:off x="457200" y="2560320"/>
            <a:ext cx="8229600" cy="502920"/>
          </a:xfrm>
          <a:prstGeom prst="rect">
            <a:avLst/>
          </a:prstGeom>
          <a:noFill/>
          <a:ln/>
        </p:spPr>
        <p:txBody>
          <a:bodyPr wrap="square" lIns="0" tIns="0" rIns="0" bIns="0" rtlCol="0" anchor="ctr"/>
          <a:lstStyle/>
          <a:p>
            <a:pPr algn="ctr" indent="0" marL="0">
              <a:buNone/>
            </a:pPr>
            <a:r>
              <a:rPr lang="en-US" sz="1700" dirty="0">
                <a:solidFill>
                  <a:srgbClr val="00B4D8"/>
                </a:solidFill>
                <a:latin typeface="Calibri" pitchFamily="34" charset="0"/>
                <a:ea typeface="Calibri" pitchFamily="34" charset="-122"/>
                <a:cs typeface="Calibri" pitchFamily="34" charset="-120"/>
              </a:rPr>
              <a:t>🚀  Full Pipeline: Code → CI → GitOps → Production</a:t>
            </a:r>
            <a:endParaRPr lang="en-US" sz="1700" dirty="0"/>
          </a:p>
        </p:txBody>
      </p:sp>
      <p:sp>
        <p:nvSpPr>
          <p:cNvPr id="6" name="Shape 4"/>
          <p:cNvSpPr/>
          <p:nvPr/>
        </p:nvSpPr>
        <p:spPr>
          <a:xfrm>
            <a:off x="2286000" y="3200400"/>
            <a:ext cx="4572000" cy="36576"/>
          </a:xfrm>
          <a:prstGeom prst="rect">
            <a:avLst/>
          </a:prstGeom>
          <a:solidFill>
            <a:srgbClr val="8EAFC2"/>
          </a:solidFill>
          <a:ln w="12700">
            <a:solidFill>
              <a:srgbClr val="8EAFC2"/>
            </a:solidFill>
            <a:prstDash val="solid"/>
          </a:ln>
        </p:spPr>
      </p:sp>
      <p:sp>
        <p:nvSpPr>
          <p:cNvPr id="7" name="Text 5"/>
          <p:cNvSpPr/>
          <p:nvPr/>
        </p:nvSpPr>
        <p:spPr>
          <a:xfrm>
            <a:off x="1371600" y="3429000"/>
            <a:ext cx="6400800" cy="347472"/>
          </a:xfrm>
          <a:prstGeom prst="rect">
            <a:avLst/>
          </a:prstGeom>
          <a:noFill/>
          <a:ln/>
        </p:spPr>
        <p:txBody>
          <a:bodyPr wrap="square" lIns="0" tIns="0" rIns="0" bIns="0" rtlCol="0" anchor="ctr"/>
          <a:lstStyle/>
          <a:p>
            <a:pPr algn="ctr" indent="0" marL="0">
              <a:buNone/>
            </a:pPr>
            <a:r>
              <a:rPr lang="en-US" sz="1200" dirty="0">
                <a:solidFill>
                  <a:srgbClr val="8EAFC2"/>
                </a:solidFill>
                <a:latin typeface="Consolas" pitchFamily="34" charset="0"/>
                <a:ea typeface="Consolas" pitchFamily="34" charset="-122"/>
                <a:cs typeface="Consolas" pitchFamily="34" charset="-120"/>
              </a:rPr>
              <a:t>GitHub:      github.com/yzimm/yaki-devops-lab</a:t>
            </a:r>
            <a:endParaRPr lang="en-US" sz="1200" dirty="0"/>
          </a:p>
        </p:txBody>
      </p:sp>
      <p:sp>
        <p:nvSpPr>
          <p:cNvPr id="8" name="Text 6"/>
          <p:cNvSpPr/>
          <p:nvPr/>
        </p:nvSpPr>
        <p:spPr>
          <a:xfrm>
            <a:off x="1371600" y="3813048"/>
            <a:ext cx="6400800" cy="347472"/>
          </a:xfrm>
          <a:prstGeom prst="rect">
            <a:avLst/>
          </a:prstGeom>
          <a:noFill/>
          <a:ln/>
        </p:spPr>
        <p:txBody>
          <a:bodyPr wrap="square" lIns="0" tIns="0" rIns="0" bIns="0" rtlCol="0" anchor="ctr"/>
          <a:lstStyle/>
          <a:p>
            <a:pPr algn="ctr" indent="0" marL="0">
              <a:buNone/>
            </a:pPr>
            <a:r>
              <a:rPr lang="en-US" sz="1200" dirty="0">
                <a:solidFill>
                  <a:srgbClr val="8EAFC2"/>
                </a:solidFill>
                <a:latin typeface="Consolas" pitchFamily="34" charset="0"/>
                <a:ea typeface="Consolas" pitchFamily="34" charset="-122"/>
                <a:cs typeface="Consolas" pitchFamily="34" charset="-120"/>
              </a:rPr>
              <a:t>Docker Hub:  hub.docker.com/r/yaki2026/my-web-app</a:t>
            </a:r>
            <a:endParaRPr lang="en-US" sz="1200" dirty="0"/>
          </a:p>
        </p:txBody>
      </p:sp>
      <p:sp>
        <p:nvSpPr>
          <p:cNvPr id="9" name="Text 7"/>
          <p:cNvSpPr/>
          <p:nvPr/>
        </p:nvSpPr>
        <p:spPr>
          <a:xfrm>
            <a:off x="1371600" y="4197096"/>
            <a:ext cx="6400800" cy="347472"/>
          </a:xfrm>
          <a:prstGeom prst="rect">
            <a:avLst/>
          </a:prstGeom>
          <a:noFill/>
          <a:ln/>
        </p:spPr>
        <p:txBody>
          <a:bodyPr wrap="square" lIns="0" tIns="0" rIns="0" bIns="0" rtlCol="0" anchor="ctr"/>
          <a:lstStyle/>
          <a:p>
            <a:pPr algn="ctr" indent="0" marL="0">
              <a:buNone/>
            </a:pPr>
            <a:r>
              <a:rPr lang="en-US" sz="1200" dirty="0">
                <a:solidFill>
                  <a:srgbClr val="8EAFC2"/>
                </a:solidFill>
                <a:latin typeface="Consolas" pitchFamily="34" charset="0"/>
                <a:ea typeface="Consolas" pitchFamily="34" charset="-122"/>
                <a:cs typeface="Consolas" pitchFamily="34" charset="-120"/>
              </a:rPr>
              <a:t>Prod App:    http://10.93.107.240</a:t>
            </a:r>
            <a:endParaRPr lang="en-US" sz="1200" dirty="0"/>
          </a:p>
        </p:txBody>
      </p:sp>
      <p:sp>
        <p:nvSpPr>
          <p:cNvPr id="10" name="Text 8"/>
          <p:cNvSpPr/>
          <p:nvPr/>
        </p:nvSpPr>
        <p:spPr>
          <a:xfrm>
            <a:off x="1371600" y="4581144"/>
            <a:ext cx="6400800" cy="347472"/>
          </a:xfrm>
          <a:prstGeom prst="rect">
            <a:avLst/>
          </a:prstGeom>
          <a:noFill/>
          <a:ln/>
        </p:spPr>
        <p:txBody>
          <a:bodyPr wrap="square" lIns="0" tIns="0" rIns="0" bIns="0" rtlCol="0" anchor="ctr"/>
          <a:lstStyle/>
          <a:p>
            <a:pPr algn="ctr" indent="0" marL="0">
              <a:buNone/>
            </a:pPr>
            <a:r>
              <a:rPr lang="en-US" sz="1200" dirty="0">
                <a:solidFill>
                  <a:srgbClr val="8EAFC2"/>
                </a:solidFill>
                <a:latin typeface="Consolas" pitchFamily="34" charset="0"/>
                <a:ea typeface="Consolas" pitchFamily="34" charset="-122"/>
                <a:cs typeface="Consolas" pitchFamily="34" charset="-120"/>
              </a:rPr>
              <a:t>Grafana:     http://10.93.107.240:3000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Yaki DevOps Lab</dc:title>
  <dc:subject>PptxGenJS Presentation</dc:subject>
  <dc:creator>PptxGenJS</dc:creator>
  <cp:lastModifiedBy>PptxGenJS</cp:lastModifiedBy>
  <cp:revision>1</cp:revision>
  <dcterms:created xsi:type="dcterms:W3CDTF">2026-03-04T16:33:39Z</dcterms:created>
  <dcterms:modified xsi:type="dcterms:W3CDTF">2026-03-04T16:33:39Z</dcterms:modified>
</cp:coreProperties>
</file>